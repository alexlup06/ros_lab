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281" r:id="rId2"/>
  </p:sldMasterIdLst>
  <p:notesMasterIdLst>
    <p:notesMasterId r:id="rId32"/>
  </p:notesMasterIdLst>
  <p:handoutMasterIdLst>
    <p:handoutMasterId r:id="rId33"/>
  </p:handoutMasterIdLst>
  <p:sldIdLst>
    <p:sldId id="270" r:id="rId3"/>
    <p:sldId id="284" r:id="rId4"/>
    <p:sldId id="283" r:id="rId5"/>
    <p:sldId id="272" r:id="rId6"/>
    <p:sldId id="274" r:id="rId7"/>
    <p:sldId id="285" r:id="rId8"/>
    <p:sldId id="271" r:id="rId9"/>
    <p:sldId id="278" r:id="rId10"/>
    <p:sldId id="279" r:id="rId11"/>
    <p:sldId id="280" r:id="rId12"/>
    <p:sldId id="281" r:id="rId13"/>
    <p:sldId id="276" r:id="rId14"/>
    <p:sldId id="286" r:id="rId15"/>
    <p:sldId id="282" r:id="rId16"/>
    <p:sldId id="275" r:id="rId17"/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</p:sldIdLst>
  <p:sldSz cx="12192000" cy="6858000"/>
  <p:notesSz cx="6858000" cy="9144000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nt" id="{C1537478-37C7-4D40-9D5D-2CAB3AC236B5}">
          <p14:sldIdLst>
            <p14:sldId id="270"/>
            <p14:sldId id="284"/>
            <p14:sldId id="283"/>
            <p14:sldId id="272"/>
            <p14:sldId id="274"/>
            <p14:sldId id="285"/>
            <p14:sldId id="271"/>
            <p14:sldId id="278"/>
            <p14:sldId id="279"/>
            <p14:sldId id="280"/>
            <p14:sldId id="281"/>
            <p14:sldId id="276"/>
            <p14:sldId id="286"/>
            <p14:sldId id="282"/>
          </p14:sldIdLst>
        </p14:section>
        <p14:section name="template" id="{895E5CAE-D189-4BFA-BBE4-C7B8EBBA4938}">
          <p14:sldIdLst>
            <p14:sldId id="275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997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pos="301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79" userDrawn="1">
          <p15:clr>
            <a:srgbClr val="A4A3A4"/>
          </p15:clr>
        </p15:guide>
        <p15:guide id="7" pos="785" userDrawn="1">
          <p15:clr>
            <a:srgbClr val="A4A3A4"/>
          </p15:clr>
        </p15:guide>
        <p15:guide id="8" pos="6895" userDrawn="1">
          <p15:clr>
            <a:srgbClr val="A4A3A4"/>
          </p15:clr>
        </p15:guide>
        <p15:guide id="9" pos="14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818"/>
    <a:srgbClr val="949494"/>
    <a:srgbClr val="070707"/>
    <a:srgbClr val="CAEF81"/>
    <a:srgbClr val="959595"/>
    <a:srgbClr val="8F8F8F"/>
    <a:srgbClr val="8C8C8C"/>
    <a:srgbClr val="333333"/>
    <a:srgbClr val="969696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40" autoAdjust="0"/>
  </p:normalViewPr>
  <p:slideViewPr>
    <p:cSldViewPr>
      <p:cViewPr varScale="1">
        <p:scale>
          <a:sx n="95" d="100"/>
          <a:sy n="95" d="100"/>
        </p:scale>
        <p:origin x="206" y="72"/>
      </p:cViewPr>
      <p:guideLst>
        <p:guide orient="horz" pos="2160"/>
        <p:guide orient="horz" pos="3997"/>
        <p:guide orient="horz" pos="436"/>
        <p:guide pos="301"/>
        <p:guide pos="3840"/>
        <p:guide pos="7379"/>
        <p:guide pos="785"/>
        <p:guide pos="6895"/>
        <p:guide pos="1451"/>
      </p:guideLst>
    </p:cSldViewPr>
  </p:slideViewPr>
  <p:outlineViewPr>
    <p:cViewPr>
      <p:scale>
        <a:sx n="33" d="100"/>
        <a:sy n="33" d="100"/>
      </p:scale>
      <p:origin x="0" y="-1488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5C3663-86F9-4257-8909-0CB676F0EE3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0671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747609F-D234-46FC-96AB-4D11C45676E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077280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FC02F0E-32B4-4E5E-B1C6-02E407046CFC}"/>
              </a:ext>
            </a:extLst>
          </p:cNvPr>
          <p:cNvSpPr/>
          <p:nvPr userDrawn="1"/>
        </p:nvSpPr>
        <p:spPr bwMode="auto">
          <a:xfrm>
            <a:off x="695400" y="522042"/>
            <a:ext cx="3312368" cy="6923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45248A-373F-4204-8D16-597C1ED84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620712"/>
            <a:ext cx="1725090" cy="521539"/>
          </a:xfrm>
          <a:prstGeom prst="rect">
            <a:avLst/>
          </a:prstGeom>
        </p:spPr>
      </p:pic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1440000" y="3429003"/>
            <a:ext cx="9768321" cy="1439863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8" name="Rectangle 17"/>
          <p:cNvSpPr>
            <a:spLocks noChangeArrowheads="1"/>
          </p:cNvSpPr>
          <p:nvPr userDrawn="1"/>
        </p:nvSpPr>
        <p:spPr bwMode="auto">
          <a:xfrm>
            <a:off x="720000" y="1520830"/>
            <a:ext cx="5998633" cy="3059113"/>
          </a:xfrm>
          <a:prstGeom prst="rect">
            <a:avLst/>
          </a:prstGeom>
          <a:solidFill>
            <a:schemeClr val="bg1"/>
          </a:solidFill>
          <a:ln w="19050">
            <a:solidFill>
              <a:srgbClr val="84B818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pic>
        <p:nvPicPr>
          <p:cNvPr id="9" name="Picture 31" descr="rst Logo RGB aus Visi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945" y="522042"/>
            <a:ext cx="1080655" cy="748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 descr="tud_logo_rgb_150dpi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620715"/>
            <a:ext cx="3038004" cy="55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platzhalter 32"/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 tIns="0" bIns="0"/>
          <a:lstStyle>
            <a:lvl1pPr marL="0" indent="0">
              <a:buFont typeface="Wingdings" pitchFamily="2" charset="2"/>
              <a:buNone/>
              <a:defRPr sz="1500"/>
            </a:lvl1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 anchor="t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85A418A-19E2-4AB7-8639-AB93E778DC31}"/>
              </a:ext>
            </a:extLst>
          </p:cNvPr>
          <p:cNvGrpSpPr/>
          <p:nvPr userDrawn="1"/>
        </p:nvGrpSpPr>
        <p:grpSpPr>
          <a:xfrm>
            <a:off x="10659888" y="5935720"/>
            <a:ext cx="836712" cy="836712"/>
            <a:chOff x="8904312" y="5711004"/>
            <a:chExt cx="836712" cy="836712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BE86D729-2E29-4D0E-BB03-7E1A574AA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4312" y="5711004"/>
              <a:ext cx="836712" cy="836712"/>
            </a:xfrm>
            <a:prstGeom prst="rect">
              <a:avLst/>
            </a:prstGeom>
          </p:spPr>
        </p:pic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D2E9136-79C8-4BD2-9A93-DEF7E4AE478E}"/>
                </a:ext>
              </a:extLst>
            </p:cNvPr>
            <p:cNvGrpSpPr/>
            <p:nvPr/>
          </p:nvGrpSpPr>
          <p:grpSpPr>
            <a:xfrm>
              <a:off x="9213078" y="6015960"/>
              <a:ext cx="272949" cy="232114"/>
              <a:chOff x="9213078" y="6015960"/>
              <a:chExt cx="272949" cy="232114"/>
            </a:xfrm>
          </p:grpSpPr>
          <p:sp>
            <p:nvSpPr>
              <p:cNvPr id="17" name="Rechteck: abgerundete Ecken 16">
                <a:extLst>
                  <a:ext uri="{FF2B5EF4-FFF2-40B4-BE49-F238E27FC236}">
                    <a16:creationId xmlns:a16="http://schemas.microsoft.com/office/drawing/2014/main" id="{C3A5AF3C-A3F4-4807-88E2-342E7358CC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13078" y="6015960"/>
                <a:ext cx="226800" cy="226800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2B34BC31-EF4A-4A32-BB09-3BD7CAF57F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13078" y="6015960"/>
                <a:ext cx="272949" cy="232114"/>
              </a:xfrm>
              <a:prstGeom prst="rect">
                <a:avLst/>
              </a:prstGeom>
              <a:noFill/>
            </p:spPr>
          </p:pic>
        </p:grpSp>
      </p:grpSp>
    </p:spTree>
    <p:extLst>
      <p:ext uri="{BB962C8B-B14F-4D97-AF65-F5344CB8AC3E}">
        <p14:creationId xmlns:p14="http://schemas.microsoft.com/office/powerpoint/2010/main" val="15630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988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8369" y="727038"/>
            <a:ext cx="11235267" cy="5618200"/>
          </a:xfrm>
        </p:spPr>
        <p:txBody>
          <a:bodyPr/>
          <a:lstStyle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262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77B0E4B-C2EB-4BEE-B4D7-9B591C7213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60000" y="727038"/>
            <a:ext cx="7920000" cy="5618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9817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78370" y="692150"/>
            <a:ext cx="5516033" cy="5653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4" y="692150"/>
            <a:ext cx="5516033" cy="5653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>
              <a:defRPr lang="de-DE" dirty="0" smtClean="0"/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sz="1800" dirty="0" smtClean="0"/>
            </a:lvl4pPr>
            <a:lvl5pPr>
              <a:defRPr lang="de-DE" sz="1800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650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1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5479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5479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5479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5479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5479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9445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1659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41336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020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7651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78738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0515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16865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1485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24465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1736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52955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80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41649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71794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09807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61071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7412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9D46B83-F671-4C2F-83F1-AEAD11152C63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977515" y="764704"/>
            <a:ext cx="10236969" cy="5758295"/>
          </a:xfrm>
          <a:prstGeom prst="rect">
            <a:avLst/>
          </a:prstGeom>
          <a:ln w="12700">
            <a:solidFill>
              <a:schemeClr val="bg1">
                <a:lumMod val="75000"/>
                <a:lumOff val="25000"/>
              </a:schemeClr>
            </a:solidFill>
          </a:ln>
        </p:spPr>
        <p:txBody>
          <a:bodyPr/>
          <a:lstStyle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94722-7F16-44E8-BF32-B36D4CBD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958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B9F7A-60A6-4AAE-B716-418FFBE67D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999" y="635154"/>
            <a:ext cx="1857590" cy="5615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83632DC-7AE0-4272-9E28-BBA5751F57C8}"/>
              </a:ext>
            </a:extLst>
          </p:cNvPr>
          <p:cNvSpPr/>
          <p:nvPr userDrawn="1"/>
        </p:nvSpPr>
        <p:spPr bwMode="auto">
          <a:xfrm>
            <a:off x="551384" y="523257"/>
            <a:ext cx="3384376" cy="70609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E0FAEA-D77F-4F14-8DD0-FF14503B14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999" y="633677"/>
            <a:ext cx="3038005" cy="508412"/>
          </a:xfrm>
          <a:prstGeom prst="rect">
            <a:avLst/>
          </a:prstGeom>
        </p:spPr>
      </p:pic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1440000" y="3429003"/>
            <a:ext cx="9768321" cy="1439863"/>
          </a:xfrm>
          <a:prstGeom prst="rect">
            <a:avLst/>
          </a:prstGeom>
          <a:gradFill rotWithShape="1">
            <a:gsLst>
              <a:gs pos="0">
                <a:srgbClr val="84B818">
                  <a:lumMod val="80000"/>
                </a:srgbClr>
              </a:gs>
              <a:gs pos="100000">
                <a:schemeClr val="bg2">
                  <a:lumMod val="100000"/>
                </a:schemeClr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de-DE" altLang="de-DE">
              <a:solidFill>
                <a:schemeClr val="tx1"/>
              </a:solidFill>
            </a:endParaRPr>
          </a:p>
        </p:txBody>
      </p:sp>
      <p:sp>
        <p:nvSpPr>
          <p:cNvPr id="8" name="Rectangle 17"/>
          <p:cNvSpPr>
            <a:spLocks noChangeArrowheads="1"/>
          </p:cNvSpPr>
          <p:nvPr userDrawn="1"/>
        </p:nvSpPr>
        <p:spPr bwMode="auto">
          <a:xfrm>
            <a:off x="720000" y="1520830"/>
            <a:ext cx="5998633" cy="305911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de-DE" altLang="de-DE">
              <a:solidFill>
                <a:schemeClr val="tx1"/>
              </a:solidFill>
            </a:endParaRPr>
          </a:p>
        </p:txBody>
      </p:sp>
      <p:sp>
        <p:nvSpPr>
          <p:cNvPr id="36" name="Textplatzhalter 32"/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 tIns="0" bIns="0"/>
          <a:lstStyle>
            <a:lvl1pPr marL="0" indent="0">
              <a:buFont typeface="Wingdings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 anchor="t" anchorCtr="0"/>
          <a:lstStyle>
            <a:lvl1pPr algn="l">
              <a:defRPr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1D1AACE-E7F6-4572-8063-E70A81892E4B}"/>
              </a:ext>
            </a:extLst>
          </p:cNvPr>
          <p:cNvSpPr txBox="1"/>
          <p:nvPr userDrawn="1"/>
        </p:nvSpPr>
        <p:spPr>
          <a:xfrm>
            <a:off x="9696400" y="6217711"/>
            <a:ext cx="1914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Calibri" panose="020F0502020204030204" pitchFamily="34" charset="0"/>
              </a:rPr>
              <a:t>@</a:t>
            </a:r>
            <a:r>
              <a:rPr lang="en-US" sz="2800" dirty="0">
                <a:solidFill>
                  <a:schemeClr val="tx1"/>
                </a:solidFill>
              </a:rPr>
              <a:t>rst_tu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906C4-AE05-4675-83D3-FC6391B14D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424" y="6381327"/>
            <a:ext cx="268608" cy="2745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6A5A6E-5DBD-43E7-8FDB-77C0F92276D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254" y="508863"/>
            <a:ext cx="1116366" cy="76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851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855496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78369" y="727038"/>
            <a:ext cx="11235267" cy="5618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566345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160000" y="727038"/>
            <a:ext cx="7920000" cy="5618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84100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78370" y="692150"/>
            <a:ext cx="5516033" cy="5653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de-DE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de-DE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de-DE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de-DE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97604" y="692150"/>
            <a:ext cx="5516033" cy="5653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>
              <a:defRPr lang="de-DE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de-DE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de-DE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de-DE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de-DE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659482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1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accent2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5479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5479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5479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5479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5479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5866997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accent2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9249061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8681971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26365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6289421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3917499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695982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7024241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9598151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9799364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40255693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9272102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4823234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494624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2477977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2046227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6907861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44421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image" Target="../media/image8.png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29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microsoft.com/office/2007/relationships/hdphoto" Target="../media/hdphoto2.wdp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9.png"/><Relationship Id="rId30" Type="http://schemas.microsoft.com/office/2007/relationships/hdphoto" Target="../media/hdphoto3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2B7490-7081-4146-B581-52F3C0B48E01}"/>
              </a:ext>
            </a:extLst>
          </p:cNvPr>
          <p:cNvSpPr/>
          <p:nvPr userDrawn="1"/>
        </p:nvSpPr>
        <p:spPr bwMode="auto">
          <a:xfrm>
            <a:off x="1" y="6416680"/>
            <a:ext cx="2999655" cy="44132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21BC9C-C93B-4119-9CFC-6B0EAA66002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8" y="6437272"/>
            <a:ext cx="1207344" cy="365011"/>
          </a:xfrm>
          <a:prstGeom prst="rect">
            <a:avLst/>
          </a:prstGeom>
        </p:spPr>
      </p:pic>
      <p:sp>
        <p:nvSpPr>
          <p:cNvPr id="10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8369" y="692150"/>
            <a:ext cx="11235267" cy="565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erste Ebene                                                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Mastertitelformat bearbeiten</a:t>
            </a:r>
          </a:p>
        </p:txBody>
      </p:sp>
      <p:sp>
        <p:nvSpPr>
          <p:cNvPr id="1028" name="Line 12"/>
          <p:cNvSpPr>
            <a:spLocks noChangeShapeType="1"/>
          </p:cNvSpPr>
          <p:nvPr userDrawn="1"/>
        </p:nvSpPr>
        <p:spPr bwMode="auto">
          <a:xfrm>
            <a:off x="1" y="682625"/>
            <a:ext cx="12192004" cy="0"/>
          </a:xfrm>
          <a:prstGeom prst="line">
            <a:avLst/>
          </a:prstGeom>
          <a:noFill/>
          <a:ln w="50800">
            <a:solidFill>
              <a:srgbClr val="84B818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29" name="Line 17"/>
          <p:cNvSpPr>
            <a:spLocks noChangeShapeType="1"/>
          </p:cNvSpPr>
          <p:nvPr userDrawn="1"/>
        </p:nvSpPr>
        <p:spPr bwMode="auto">
          <a:xfrm>
            <a:off x="1" y="6345238"/>
            <a:ext cx="11208567" cy="0"/>
          </a:xfrm>
          <a:prstGeom prst="line">
            <a:avLst/>
          </a:prstGeom>
          <a:noFill/>
          <a:ln w="50800">
            <a:solidFill>
              <a:srgbClr val="84B818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1030" name="Picture 18" descr="rst Logo RGB aus Visio"/>
          <p:cNvPicPr>
            <a:picLocks noChangeAspect="1" noChangeArrowheads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289" y="6216651"/>
            <a:ext cx="818804" cy="56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13" descr="tud_logo_rgb_150dpi"/>
          <p:cNvPicPr>
            <a:picLocks noChangeAspect="1" noChangeArrowheads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6416680"/>
            <a:ext cx="2182091" cy="3948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2" r:id="rId1"/>
    <p:sldLayoutId id="2147484253" r:id="rId2"/>
    <p:sldLayoutId id="2147484254" r:id="rId3"/>
    <p:sldLayoutId id="2147484311" r:id="rId4"/>
    <p:sldLayoutId id="2147484255" r:id="rId5"/>
    <p:sldLayoutId id="2147484263" r:id="rId6"/>
    <p:sldLayoutId id="2147484264" r:id="rId7"/>
    <p:sldLayoutId id="2147484265" r:id="rId8"/>
    <p:sldLayoutId id="2147484266" r:id="rId9"/>
    <p:sldLayoutId id="2147484267" r:id="rId10"/>
    <p:sldLayoutId id="2147484268" r:id="rId11"/>
    <p:sldLayoutId id="2147484269" r:id="rId12"/>
    <p:sldLayoutId id="2147484270" r:id="rId13"/>
    <p:sldLayoutId id="2147484271" r:id="rId14"/>
    <p:sldLayoutId id="2147484272" r:id="rId15"/>
    <p:sldLayoutId id="2147484273" r:id="rId16"/>
    <p:sldLayoutId id="2147484274" r:id="rId17"/>
    <p:sldLayoutId id="2147484275" r:id="rId18"/>
    <p:sldLayoutId id="2147484276" r:id="rId19"/>
    <p:sldLayoutId id="2147484277" r:id="rId20"/>
    <p:sldLayoutId id="2147484278" r:id="rId21"/>
    <p:sldLayoutId id="2147484279" r:id="rId22"/>
    <p:sldLayoutId id="2147484280" r:id="rId23"/>
    <p:sldLayoutId id="2147484317" r:id="rId2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-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100000"/>
              </a:schemeClr>
            </a:gs>
            <a:gs pos="100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86AF94C-2AD6-4F6C-A5B0-B98BA92DDBC1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-4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051" y="6420535"/>
            <a:ext cx="1199538" cy="3626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477510-7E73-404E-B7C4-CC41FFCED4ED}"/>
              </a:ext>
            </a:extLst>
          </p:cNvPr>
          <p:cNvSpPr/>
          <p:nvPr userDrawn="1"/>
        </p:nvSpPr>
        <p:spPr bwMode="auto">
          <a:xfrm>
            <a:off x="114051" y="6409879"/>
            <a:ext cx="2597573" cy="44812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FAF2652-125D-456C-856B-C02520330EC3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85000"/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-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1" y="6420535"/>
            <a:ext cx="1991626" cy="322508"/>
          </a:xfrm>
          <a:prstGeom prst="rect">
            <a:avLst/>
          </a:prstGeom>
        </p:spPr>
      </p:pic>
      <p:sp>
        <p:nvSpPr>
          <p:cNvPr id="10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8369" y="692150"/>
            <a:ext cx="11235267" cy="565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erste Ebene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Mastertitelformat bearbeiten</a:t>
            </a:r>
          </a:p>
        </p:txBody>
      </p:sp>
      <p:sp>
        <p:nvSpPr>
          <p:cNvPr id="1028" name="Line 12"/>
          <p:cNvSpPr>
            <a:spLocks noChangeShapeType="1"/>
          </p:cNvSpPr>
          <p:nvPr userDrawn="1"/>
        </p:nvSpPr>
        <p:spPr bwMode="auto">
          <a:xfrm>
            <a:off x="47328" y="685129"/>
            <a:ext cx="12096672" cy="0"/>
          </a:xfrm>
          <a:prstGeom prst="line">
            <a:avLst/>
          </a:prstGeom>
          <a:noFill/>
          <a:ln w="50800" cap="rnd">
            <a:solidFill>
              <a:schemeClr val="accent3">
                <a:alpha val="57000"/>
              </a:schemeClr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29" name="Line 17"/>
          <p:cNvSpPr>
            <a:spLocks noChangeShapeType="1"/>
          </p:cNvSpPr>
          <p:nvPr userDrawn="1"/>
        </p:nvSpPr>
        <p:spPr bwMode="auto">
          <a:xfrm flipV="1">
            <a:off x="47329" y="6341301"/>
            <a:ext cx="11161239" cy="5299"/>
          </a:xfrm>
          <a:prstGeom prst="line">
            <a:avLst/>
          </a:prstGeom>
          <a:noFill/>
          <a:ln w="50800" cap="rnd">
            <a:solidFill>
              <a:srgbClr val="959595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1030" name="Picture 18"/>
          <p:cNvPicPr>
            <a:picLocks noChangeAspect="1" noChangeArrowheads="1"/>
          </p:cNvPicPr>
          <p:nvPr userDrawn="1"/>
        </p:nvPicPr>
        <p:blipFill>
          <a:blip r:embed="rId29" cstate="print">
            <a:alphaModFix/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75200" y="6216772"/>
            <a:ext cx="818791" cy="56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17">
            <a:extLst>
              <a:ext uri="{FF2B5EF4-FFF2-40B4-BE49-F238E27FC236}">
                <a16:creationId xmlns:a16="http://schemas.microsoft.com/office/drawing/2014/main" id="{E2B7D9CD-4ED5-46E5-9F97-56D6EEE59F2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064552" y="6341301"/>
            <a:ext cx="144016" cy="0"/>
          </a:xfrm>
          <a:prstGeom prst="line">
            <a:avLst/>
          </a:prstGeom>
          <a:noFill/>
          <a:ln w="50800" cap="sq">
            <a:solidFill>
              <a:srgbClr val="959595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998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82" r:id="rId1"/>
    <p:sldLayoutId id="2147484283" r:id="rId2"/>
    <p:sldLayoutId id="2147484284" r:id="rId3"/>
    <p:sldLayoutId id="2147484285" r:id="rId4"/>
    <p:sldLayoutId id="2147484286" r:id="rId5"/>
    <p:sldLayoutId id="2147484293" r:id="rId6"/>
    <p:sldLayoutId id="2147484294" r:id="rId7"/>
    <p:sldLayoutId id="2147484295" r:id="rId8"/>
    <p:sldLayoutId id="2147484296" r:id="rId9"/>
    <p:sldLayoutId id="2147484297" r:id="rId10"/>
    <p:sldLayoutId id="2147484298" r:id="rId11"/>
    <p:sldLayoutId id="2147484299" r:id="rId12"/>
    <p:sldLayoutId id="2147484300" r:id="rId13"/>
    <p:sldLayoutId id="2147484301" r:id="rId14"/>
    <p:sldLayoutId id="2147484302" r:id="rId15"/>
    <p:sldLayoutId id="2147484303" r:id="rId16"/>
    <p:sldLayoutId id="2147484304" r:id="rId17"/>
    <p:sldLayoutId id="2147484305" r:id="rId18"/>
    <p:sldLayoutId id="2147484306" r:id="rId19"/>
    <p:sldLayoutId id="2147484307" r:id="rId20"/>
    <p:sldLayoutId id="2147484308" r:id="rId21"/>
    <p:sldLayoutId id="2147484309" r:id="rId22"/>
    <p:sldLayoutId id="2147484310" r:id="rId2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tabLst>
          <a:tab pos="5019675" algn="l"/>
        </a:tabLst>
        <a:defRPr sz="2400" b="1">
          <a:solidFill>
            <a:schemeClr val="accent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-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7.png"/><Relationship Id="rId5" Type="http://schemas.openxmlformats.org/officeDocument/2006/relationships/image" Target="../media/image40.png"/><Relationship Id="rId10" Type="http://schemas.openxmlformats.org/officeDocument/2006/relationships/image" Target="../media/image46.png"/><Relationship Id="rId4" Type="http://schemas.openxmlformats.org/officeDocument/2006/relationships/image" Target="../media/image39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0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12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7.png"/><Relationship Id="rId5" Type="http://schemas.openxmlformats.org/officeDocument/2006/relationships/image" Target="../media/image40.png"/><Relationship Id="rId15" Type="http://schemas.openxmlformats.org/officeDocument/2006/relationships/image" Target="../media/image52.png"/><Relationship Id="rId10" Type="http://schemas.openxmlformats.org/officeDocument/2006/relationships/image" Target="../media/image46.png"/><Relationship Id="rId4" Type="http://schemas.openxmlformats.org/officeDocument/2006/relationships/image" Target="../media/image39.png"/><Relationship Id="rId9" Type="http://schemas.openxmlformats.org/officeDocument/2006/relationships/image" Target="../media/image45.png"/><Relationship Id="rId1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48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7.png"/><Relationship Id="rId5" Type="http://schemas.openxmlformats.org/officeDocument/2006/relationships/image" Target="../media/image40.png"/><Relationship Id="rId15" Type="http://schemas.openxmlformats.org/officeDocument/2006/relationships/image" Target="../media/image52.png"/><Relationship Id="rId10" Type="http://schemas.openxmlformats.org/officeDocument/2006/relationships/image" Target="../media/image46.png"/><Relationship Id="rId19" Type="http://schemas.openxmlformats.org/officeDocument/2006/relationships/image" Target="../media/image56.png"/><Relationship Id="rId4" Type="http://schemas.openxmlformats.org/officeDocument/2006/relationships/image" Target="../media/image39.png"/><Relationship Id="rId9" Type="http://schemas.openxmlformats.org/officeDocument/2006/relationships/image" Target="../media/image45.png"/><Relationship Id="rId1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38.png"/><Relationship Id="rId21" Type="http://schemas.openxmlformats.org/officeDocument/2006/relationships/image" Target="../media/image59.png"/><Relationship Id="rId7" Type="http://schemas.openxmlformats.org/officeDocument/2006/relationships/image" Target="../media/image43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3.png"/><Relationship Id="rId2" Type="http://schemas.openxmlformats.org/officeDocument/2006/relationships/image" Target="../media/image57.png"/><Relationship Id="rId16" Type="http://schemas.openxmlformats.org/officeDocument/2006/relationships/image" Target="../media/image53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7.png"/><Relationship Id="rId24" Type="http://schemas.openxmlformats.org/officeDocument/2006/relationships/image" Target="../media/image62.png"/><Relationship Id="rId5" Type="http://schemas.openxmlformats.org/officeDocument/2006/relationships/image" Target="../media/image40.png"/><Relationship Id="rId15" Type="http://schemas.openxmlformats.org/officeDocument/2006/relationships/image" Target="../media/image52.png"/><Relationship Id="rId23" Type="http://schemas.openxmlformats.org/officeDocument/2006/relationships/image" Target="../media/image61.png"/><Relationship Id="rId10" Type="http://schemas.openxmlformats.org/officeDocument/2006/relationships/image" Target="../media/image46.png"/><Relationship Id="rId19" Type="http://schemas.openxmlformats.org/officeDocument/2006/relationships/image" Target="../media/image56.png"/><Relationship Id="rId4" Type="http://schemas.openxmlformats.org/officeDocument/2006/relationships/image" Target="../media/image39.png"/><Relationship Id="rId9" Type="http://schemas.openxmlformats.org/officeDocument/2006/relationships/image" Target="../media/image45.png"/><Relationship Id="rId14" Type="http://schemas.openxmlformats.org/officeDocument/2006/relationships/image" Target="../media/image51.png"/><Relationship Id="rId22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4.png"/><Relationship Id="rId18" Type="http://schemas.openxmlformats.org/officeDocument/2006/relationships/image" Target="../media/image66.png"/><Relationship Id="rId26" Type="http://schemas.openxmlformats.org/officeDocument/2006/relationships/image" Target="../media/image47.png"/><Relationship Id="rId3" Type="http://schemas.openxmlformats.org/officeDocument/2006/relationships/image" Target="../media/image38.png"/><Relationship Id="rId21" Type="http://schemas.openxmlformats.org/officeDocument/2006/relationships/image" Target="../media/image41.png"/><Relationship Id="rId7" Type="http://schemas.openxmlformats.org/officeDocument/2006/relationships/image" Target="../media/image44.png"/><Relationship Id="rId12" Type="http://schemas.openxmlformats.org/officeDocument/2006/relationships/image" Target="../media/image53.png"/><Relationship Id="rId17" Type="http://schemas.openxmlformats.org/officeDocument/2006/relationships/image" Target="../media/image60.png"/><Relationship Id="rId25" Type="http://schemas.openxmlformats.org/officeDocument/2006/relationships/image" Target="../media/image61.png"/><Relationship Id="rId2" Type="http://schemas.openxmlformats.org/officeDocument/2006/relationships/image" Target="../media/image64.png"/><Relationship Id="rId16" Type="http://schemas.openxmlformats.org/officeDocument/2006/relationships/image" Target="../media/image59.png"/><Relationship Id="rId20" Type="http://schemas.openxmlformats.org/officeDocument/2006/relationships/image" Target="../media/image68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11" Type="http://schemas.openxmlformats.org/officeDocument/2006/relationships/image" Target="../media/image50.png"/><Relationship Id="rId24" Type="http://schemas.openxmlformats.org/officeDocument/2006/relationships/image" Target="../media/image56.png"/><Relationship Id="rId5" Type="http://schemas.openxmlformats.org/officeDocument/2006/relationships/image" Target="../media/image40.png"/><Relationship Id="rId15" Type="http://schemas.openxmlformats.org/officeDocument/2006/relationships/image" Target="../media/image58.png"/><Relationship Id="rId23" Type="http://schemas.openxmlformats.org/officeDocument/2006/relationships/image" Target="../media/image51.png"/><Relationship Id="rId28" Type="http://schemas.openxmlformats.org/officeDocument/2006/relationships/image" Target="../media/image69.png"/><Relationship Id="rId10" Type="http://schemas.openxmlformats.org/officeDocument/2006/relationships/image" Target="../media/image65.png"/><Relationship Id="rId19" Type="http://schemas.openxmlformats.org/officeDocument/2006/relationships/image" Target="../media/image67.png"/><Relationship Id="rId4" Type="http://schemas.openxmlformats.org/officeDocument/2006/relationships/image" Target="../media/image39.png"/><Relationship Id="rId9" Type="http://schemas.openxmlformats.org/officeDocument/2006/relationships/image" Target="../media/image49.png"/><Relationship Id="rId14" Type="http://schemas.openxmlformats.org/officeDocument/2006/relationships/image" Target="../media/image55.png"/><Relationship Id="rId22" Type="http://schemas.openxmlformats.org/officeDocument/2006/relationships/image" Target="../media/image46.png"/><Relationship Id="rId27" Type="http://schemas.openxmlformats.org/officeDocument/2006/relationships/image" Target="../media/image52.png"/><Relationship Id="rId30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8" Type="http://schemas.openxmlformats.org/officeDocument/2006/relationships/image" Target="../media/image71.png"/><Relationship Id="rId3" Type="http://schemas.openxmlformats.org/officeDocument/2006/relationships/image" Target="../media/image72.png"/><Relationship Id="rId21" Type="http://schemas.openxmlformats.org/officeDocument/2006/relationships/image" Target="../media/image83.png"/><Relationship Id="rId7" Type="http://schemas.openxmlformats.org/officeDocument/2006/relationships/image" Target="../media/image76.png"/><Relationship Id="rId17" Type="http://schemas.openxmlformats.org/officeDocument/2006/relationships/image" Target="../media/image86.png"/><Relationship Id="rId2" Type="http://schemas.openxmlformats.org/officeDocument/2006/relationships/image" Target="../media/image70.png"/><Relationship Id="rId16" Type="http://schemas.openxmlformats.org/officeDocument/2006/relationships/image" Target="../media/image85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1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5.png"/><Relationship Id="rId18" Type="http://schemas.openxmlformats.org/officeDocument/2006/relationships/image" Target="../media/image670.png"/><Relationship Id="rId26" Type="http://schemas.openxmlformats.org/officeDocument/2006/relationships/image" Target="../media/image52.png"/><Relationship Id="rId3" Type="http://schemas.openxmlformats.org/officeDocument/2006/relationships/image" Target="../media/image39.png"/><Relationship Id="rId21" Type="http://schemas.openxmlformats.org/officeDocument/2006/relationships/image" Target="../media/image46.png"/><Relationship Id="rId7" Type="http://schemas.openxmlformats.org/officeDocument/2006/relationships/image" Target="../media/image45.png"/><Relationship Id="rId12" Type="http://schemas.openxmlformats.org/officeDocument/2006/relationships/image" Target="../media/image54.png"/><Relationship Id="rId17" Type="http://schemas.openxmlformats.org/officeDocument/2006/relationships/image" Target="../media/image660.png"/><Relationship Id="rId25" Type="http://schemas.openxmlformats.org/officeDocument/2006/relationships/image" Target="../media/image47.png"/><Relationship Id="rId2" Type="http://schemas.openxmlformats.org/officeDocument/2006/relationships/image" Target="../media/image38.png"/><Relationship Id="rId16" Type="http://schemas.openxmlformats.org/officeDocument/2006/relationships/image" Target="../media/image60.png"/><Relationship Id="rId20" Type="http://schemas.openxmlformats.org/officeDocument/2006/relationships/image" Target="../media/image41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11" Type="http://schemas.openxmlformats.org/officeDocument/2006/relationships/image" Target="../media/image53.png"/><Relationship Id="rId24" Type="http://schemas.openxmlformats.org/officeDocument/2006/relationships/image" Target="../media/image61.png"/><Relationship Id="rId5" Type="http://schemas.openxmlformats.org/officeDocument/2006/relationships/image" Target="../media/image43.png"/><Relationship Id="rId15" Type="http://schemas.openxmlformats.org/officeDocument/2006/relationships/image" Target="../media/image59.png"/><Relationship Id="rId23" Type="http://schemas.openxmlformats.org/officeDocument/2006/relationships/image" Target="../media/image56.png"/><Relationship Id="rId28" Type="http://schemas.openxmlformats.org/officeDocument/2006/relationships/image" Target="../media/image62.png"/><Relationship Id="rId10" Type="http://schemas.openxmlformats.org/officeDocument/2006/relationships/image" Target="../media/image50.png"/><Relationship Id="rId19" Type="http://schemas.openxmlformats.org/officeDocument/2006/relationships/image" Target="../media/image68.png"/><Relationship Id="rId4" Type="http://schemas.openxmlformats.org/officeDocument/2006/relationships/image" Target="../media/image40.png"/><Relationship Id="rId9" Type="http://schemas.openxmlformats.org/officeDocument/2006/relationships/image" Target="../media/image65.png"/><Relationship Id="rId14" Type="http://schemas.openxmlformats.org/officeDocument/2006/relationships/image" Target="../media/image58.png"/><Relationship Id="rId22" Type="http://schemas.openxmlformats.org/officeDocument/2006/relationships/image" Target="../media/image51.png"/><Relationship Id="rId27" Type="http://schemas.openxmlformats.org/officeDocument/2006/relationships/image" Target="../media/image69.png"/><Relationship Id="rId30" Type="http://schemas.openxmlformats.org/officeDocument/2006/relationships/image" Target="../media/image70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.tu-dortmund.de/group/intra/corporate-design" TargetMode="External"/><Relationship Id="rId2" Type="http://schemas.openxmlformats.org/officeDocument/2006/relationships/hyperlink" Target="https://itmc.tu-dortmund.de/unsere-services/medien-services/grafik/design/corporate-design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achatelier.fr/latexit/" TargetMode="External"/><Relationship Id="rId2" Type="http://schemas.openxmlformats.org/officeDocument/2006/relationships/hyperlink" Target="http://www.jonathanleroux.org/software/iguanatex/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cid:image001.jpg@01DA1D30.D703D800" TargetMode="External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cid:image001.jpg@01DA1D30.D703D800" TargetMode="External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6">
            <a:extLst>
              <a:ext uri="{FF2B5EF4-FFF2-40B4-BE49-F238E27FC236}">
                <a16:creationId xmlns:a16="http://schemas.microsoft.com/office/drawing/2014/main" id="{E6C220ED-19C8-4F76-A020-CA23A0F465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en-US" u="sng" dirty="0"/>
              <a:t>Author</a:t>
            </a:r>
            <a:r>
              <a:rPr lang="en-US" dirty="0"/>
              <a:t>, co-authors</a:t>
            </a:r>
          </a:p>
          <a:p>
            <a:endParaRPr lang="de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C3827B1-4398-4884-8B73-F01C20E55E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de-DE" dirty="0"/>
              <a:t>Univ.-Prof. Dr.-Ing. Prof. h.c. Dr. h.c. Torsten Bertram</a:t>
            </a:r>
          </a:p>
          <a:p>
            <a:pPr>
              <a:defRPr/>
            </a:pPr>
            <a:r>
              <a:rPr lang="en-US" dirty="0"/>
              <a:t>Institute of Control Theory and Systems Engineering</a:t>
            </a:r>
          </a:p>
          <a:p>
            <a:endParaRPr lang="de-DE" dirty="0"/>
          </a:p>
        </p:txBody>
      </p:sp>
      <p:sp>
        <p:nvSpPr>
          <p:cNvPr id="8" name="Untertitel 3">
            <a:extLst>
              <a:ext uri="{FF2B5EF4-FFF2-40B4-BE49-F238E27FC236}">
                <a16:creationId xmlns:a16="http://schemas.microsoft.com/office/drawing/2014/main" id="{E3A5BA58-1693-44C8-A922-49C7DBF1F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/>
          <a:lstStyle/>
          <a:p>
            <a:r>
              <a:rPr lang="de-DE" altLang="de-DE" dirty="0"/>
              <a:t>SURROS, Location, </a:t>
            </a:r>
            <a:r>
              <a:rPr lang="de-DE" altLang="de-DE" dirty="0" err="1"/>
              <a:t>Month</a:t>
            </a:r>
            <a:r>
              <a:rPr lang="de-DE" altLang="de-DE" dirty="0"/>
              <a:t> </a:t>
            </a:r>
            <a:r>
              <a:rPr lang="de-DE" altLang="de-DE" dirty="0" err="1"/>
              <a:t>dd</a:t>
            </a:r>
            <a:r>
              <a:rPr lang="de-DE" altLang="de-DE" baseline="30000" dirty="0" err="1"/>
              <a:t>th</a:t>
            </a:r>
            <a:r>
              <a:rPr lang="de-DE" altLang="de-DE" dirty="0"/>
              <a:t> - </a:t>
            </a:r>
            <a:r>
              <a:rPr lang="de-DE" altLang="de-DE" dirty="0" err="1"/>
              <a:t>dd</a:t>
            </a:r>
            <a:r>
              <a:rPr lang="de-DE" altLang="de-DE" baseline="30000" dirty="0" err="1"/>
              <a:t>th</a:t>
            </a:r>
            <a:r>
              <a:rPr lang="de-DE" altLang="de-DE" dirty="0"/>
              <a:t> </a:t>
            </a:r>
            <a:r>
              <a:rPr lang="de-DE" altLang="de-DE" dirty="0" err="1"/>
              <a:t>yyyy</a:t>
            </a:r>
            <a:endParaRPr lang="de-DE" altLang="de-DE" dirty="0"/>
          </a:p>
          <a:p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9969CD90-D439-4139-B2F3-5FEDA3C8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kinematics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5742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12B4F-BC00-6691-3508-81188D00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677D6B-9A43-487C-A010-F1BE6B5F3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9DAE48-A056-F3AA-FB8B-2274DEF173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</a:t>
            </a:r>
            <a:r>
              <a:rPr lang="de-DE" dirty="0" err="1"/>
              <a:t>frames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091946-958D-E4B1-7E3A-DCC16BF4E5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forward</a:t>
            </a:r>
            <a:r>
              <a:rPr lang="de-DE" dirty="0"/>
              <a:t> </a:t>
            </a:r>
            <a:r>
              <a:rPr lang="de-DE" dirty="0" err="1"/>
              <a:t>kinematics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391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356D8-5569-9AD2-75B3-D338E4DF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kinematics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F6452F1-C5B6-996E-D04C-A16BF8808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Forward </a:t>
                </a:r>
                <a:r>
                  <a:rPr lang="de-DE" dirty="0" err="1"/>
                  <a:t>kinematics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concerned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relationship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individual </a:t>
                </a:r>
                <a:r>
                  <a:rPr lang="de-DE" dirty="0" err="1"/>
                  <a:t>joints</a:t>
                </a:r>
                <a:r>
                  <a:rPr lang="de-DE" dirty="0"/>
                  <a:t> and </a:t>
                </a:r>
                <a:r>
                  <a:rPr lang="de-DE" dirty="0" err="1"/>
                  <a:t>the</a:t>
                </a:r>
                <a:r>
                  <a:rPr lang="de-DE" dirty="0"/>
                  <a:t> end-</a:t>
                </a:r>
                <a:r>
                  <a:rPr lang="de-DE" dirty="0" err="1"/>
                  <a:t>effector</a:t>
                </a:r>
                <a:r>
                  <a:rPr lang="de-DE" dirty="0"/>
                  <a:t> </a:t>
                </a:r>
                <a:r>
                  <a:rPr lang="de-DE" dirty="0" err="1"/>
                  <a:t>pose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robot</a:t>
                </a:r>
                <a:endParaRPr lang="de-DE" dirty="0"/>
              </a:p>
              <a:p>
                <a:r>
                  <a:rPr lang="de-DE" dirty="0" err="1"/>
                  <a:t>Systematic</a:t>
                </a:r>
                <a:r>
                  <a:rPr lang="de-DE" dirty="0"/>
                  <a:t> </a:t>
                </a:r>
                <a:r>
                  <a:rPr lang="de-DE" dirty="0" err="1"/>
                  <a:t>approach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describe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}=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F6452F1-C5B6-996E-D04C-A16BF8808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0" r="-3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hteck 3">
            <a:extLst>
              <a:ext uri="{FF2B5EF4-FFF2-40B4-BE49-F238E27FC236}">
                <a16:creationId xmlns:a16="http://schemas.microsoft.com/office/drawing/2014/main" id="{27D8C864-32EA-03D8-F1F7-43FBB4F684CE}"/>
              </a:ext>
            </a:extLst>
          </p:cNvPr>
          <p:cNvSpPr/>
          <p:nvPr/>
        </p:nvSpPr>
        <p:spPr bwMode="auto">
          <a:xfrm>
            <a:off x="4151784" y="3140969"/>
            <a:ext cx="4032448" cy="25202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4A79105-205A-B63C-3C05-93AAA7DB66B1}"/>
              </a:ext>
            </a:extLst>
          </p:cNvPr>
          <p:cNvCxnSpPr/>
          <p:nvPr/>
        </p:nvCxnSpPr>
        <p:spPr bwMode="auto">
          <a:xfrm>
            <a:off x="2711624" y="3429000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B441425-C6DC-6A24-5E5F-4180BE69BA6C}"/>
              </a:ext>
            </a:extLst>
          </p:cNvPr>
          <p:cNvCxnSpPr/>
          <p:nvPr/>
        </p:nvCxnSpPr>
        <p:spPr bwMode="auto">
          <a:xfrm>
            <a:off x="2711624" y="3789040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492DF91-16E9-FBEE-B3EA-AF95A96CB36C}"/>
              </a:ext>
            </a:extLst>
          </p:cNvPr>
          <p:cNvCxnSpPr/>
          <p:nvPr/>
        </p:nvCxnSpPr>
        <p:spPr bwMode="auto">
          <a:xfrm>
            <a:off x="2711624" y="5445224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CFB71B9-0142-B3E5-4632-B50586214229}"/>
              </a:ext>
            </a:extLst>
          </p:cNvPr>
          <p:cNvCxnSpPr/>
          <p:nvPr/>
        </p:nvCxnSpPr>
        <p:spPr bwMode="auto">
          <a:xfrm>
            <a:off x="8184232" y="3416458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4C917B0-A198-7E3C-1D7E-AE76C36B447C}"/>
              </a:ext>
            </a:extLst>
          </p:cNvPr>
          <p:cNvCxnSpPr/>
          <p:nvPr/>
        </p:nvCxnSpPr>
        <p:spPr bwMode="auto">
          <a:xfrm>
            <a:off x="8184232" y="3795189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8BEB80E-C698-B8B5-BBE0-335339F06571}"/>
              </a:ext>
            </a:extLst>
          </p:cNvPr>
          <p:cNvCxnSpPr/>
          <p:nvPr/>
        </p:nvCxnSpPr>
        <p:spPr bwMode="auto">
          <a:xfrm>
            <a:off x="8184232" y="4221088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8BD7644-3B1D-1F4B-57CA-16191F4BEC19}"/>
              </a:ext>
            </a:extLst>
          </p:cNvPr>
          <p:cNvCxnSpPr/>
          <p:nvPr/>
        </p:nvCxnSpPr>
        <p:spPr bwMode="auto">
          <a:xfrm>
            <a:off x="8184232" y="4562437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9D9C9CE-5746-9D5F-8F34-1568987D77A5}"/>
              </a:ext>
            </a:extLst>
          </p:cNvPr>
          <p:cNvCxnSpPr/>
          <p:nvPr/>
        </p:nvCxnSpPr>
        <p:spPr bwMode="auto">
          <a:xfrm>
            <a:off x="8184232" y="4941168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1430820-FD8E-68D2-C351-7BABD0A27BDC}"/>
              </a:ext>
            </a:extLst>
          </p:cNvPr>
          <p:cNvCxnSpPr/>
          <p:nvPr/>
        </p:nvCxnSpPr>
        <p:spPr bwMode="auto">
          <a:xfrm>
            <a:off x="8184232" y="5373216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5F40A0D-4268-912B-9617-CEFE8302A205}"/>
                  </a:ext>
                </a:extLst>
              </p:cNvPr>
              <p:cNvSpPr txBox="1"/>
              <p:nvPr/>
            </p:nvSpPr>
            <p:spPr>
              <a:xfrm>
                <a:off x="9636996" y="3139459"/>
                <a:ext cx="194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5F40A0D-4268-912B-9617-CEFE8302A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6996" y="3139459"/>
                <a:ext cx="194540" cy="276999"/>
              </a:xfrm>
              <a:prstGeom prst="rect">
                <a:avLst/>
              </a:prstGeom>
              <a:blipFill>
                <a:blip r:embed="rId3"/>
                <a:stretch>
                  <a:fillRect l="-31250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079CA9F-B402-9A36-344E-199EE2112B0F}"/>
                  </a:ext>
                </a:extLst>
              </p:cNvPr>
              <p:cNvSpPr txBox="1"/>
              <p:nvPr/>
            </p:nvSpPr>
            <p:spPr>
              <a:xfrm>
                <a:off x="9655425" y="3537362"/>
                <a:ext cx="197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079CA9F-B402-9A36-344E-199EE2112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425" y="3537362"/>
                <a:ext cx="197938" cy="276999"/>
              </a:xfrm>
              <a:prstGeom prst="rect">
                <a:avLst/>
              </a:prstGeom>
              <a:blipFill>
                <a:blip r:embed="rId4"/>
                <a:stretch>
                  <a:fillRect l="-43750" r="-9375" b="-260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7086B29C-04F1-BFA7-3CAE-D63CEEE4C9D4}"/>
                  </a:ext>
                </a:extLst>
              </p:cNvPr>
              <p:cNvSpPr txBox="1"/>
              <p:nvPr/>
            </p:nvSpPr>
            <p:spPr>
              <a:xfrm>
                <a:off x="9662542" y="3935265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7086B29C-04F1-BFA7-3CAE-D63CEEE4C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542" y="3935265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33333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9BEFBA1-C87B-4678-EE92-D3615AD52F50}"/>
                  </a:ext>
                </a:extLst>
              </p:cNvPr>
              <p:cNvSpPr txBox="1"/>
              <p:nvPr/>
            </p:nvSpPr>
            <p:spPr>
              <a:xfrm>
                <a:off x="9670717" y="4333168"/>
                <a:ext cx="178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9BEFBA1-C87B-4678-EE92-D3615AD52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717" y="4333168"/>
                <a:ext cx="178189" cy="276999"/>
              </a:xfrm>
              <a:prstGeom prst="rect">
                <a:avLst/>
              </a:prstGeom>
              <a:blipFill>
                <a:blip r:embed="rId6"/>
                <a:stretch>
                  <a:fillRect l="-33333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F49AEB9-FC8D-F5E1-73CF-BD81A9F16A9F}"/>
                  </a:ext>
                </a:extLst>
              </p:cNvPr>
              <p:cNvSpPr txBox="1"/>
              <p:nvPr/>
            </p:nvSpPr>
            <p:spPr>
              <a:xfrm>
                <a:off x="9670717" y="4731071"/>
                <a:ext cx="194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F49AEB9-FC8D-F5E1-73CF-BD81A9F16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717" y="4731071"/>
                <a:ext cx="194540" cy="276999"/>
              </a:xfrm>
              <a:prstGeom prst="rect">
                <a:avLst/>
              </a:prstGeom>
              <a:blipFill>
                <a:blip r:embed="rId7"/>
                <a:stretch>
                  <a:fillRect l="-43750" r="-9375" b="-260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94FACF8-C6D4-2A00-C208-B6861921A05B}"/>
                  </a:ext>
                </a:extLst>
              </p:cNvPr>
              <p:cNvSpPr txBox="1"/>
              <p:nvPr/>
            </p:nvSpPr>
            <p:spPr>
              <a:xfrm>
                <a:off x="9659367" y="5128975"/>
                <a:ext cx="197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94FACF8-C6D4-2A00-C208-B6861921A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367" y="5128975"/>
                <a:ext cx="197938" cy="276999"/>
              </a:xfrm>
              <a:prstGeom prst="rect">
                <a:avLst/>
              </a:prstGeom>
              <a:blipFill>
                <a:blip r:embed="rId8"/>
                <a:stretch>
                  <a:fillRect l="-40625" r="-6250" b="-239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B89D87B-50F8-7F3F-24AA-B65E8520ED91}"/>
                  </a:ext>
                </a:extLst>
              </p:cNvPr>
              <p:cNvSpPr txBox="1"/>
              <p:nvPr/>
            </p:nvSpPr>
            <p:spPr>
              <a:xfrm>
                <a:off x="2424111" y="3139458"/>
                <a:ext cx="287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B89D87B-50F8-7F3F-24AA-B65E8520E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111" y="3139458"/>
                <a:ext cx="287836" cy="276999"/>
              </a:xfrm>
              <a:prstGeom prst="rect">
                <a:avLst/>
              </a:prstGeom>
              <a:blipFill>
                <a:blip r:embed="rId9"/>
                <a:stretch>
                  <a:fillRect l="-29787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FF5F4BC8-60B2-3FDA-DFEB-4390AD512416}"/>
                  </a:ext>
                </a:extLst>
              </p:cNvPr>
              <p:cNvSpPr txBox="1"/>
              <p:nvPr/>
            </p:nvSpPr>
            <p:spPr>
              <a:xfrm>
                <a:off x="2421451" y="3525801"/>
                <a:ext cx="293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FF5F4BC8-60B2-3FDA-DFEB-4390AD512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451" y="3525801"/>
                <a:ext cx="293157" cy="276999"/>
              </a:xfrm>
              <a:prstGeom prst="rect">
                <a:avLst/>
              </a:prstGeom>
              <a:blipFill>
                <a:blip r:embed="rId10"/>
                <a:stretch>
                  <a:fillRect l="-27083" b="-173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315FD637-A0AE-DFA3-27ED-B19D4224A59B}"/>
                  </a:ext>
                </a:extLst>
              </p:cNvPr>
              <p:cNvSpPr txBox="1"/>
              <p:nvPr/>
            </p:nvSpPr>
            <p:spPr>
              <a:xfrm>
                <a:off x="2414132" y="5137739"/>
                <a:ext cx="301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315FD637-A0AE-DFA3-27ED-B19D4224A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132" y="5137739"/>
                <a:ext cx="301878" cy="276999"/>
              </a:xfrm>
              <a:prstGeom prst="rect">
                <a:avLst/>
              </a:prstGeom>
              <a:blipFill>
                <a:blip r:embed="rId11"/>
                <a:stretch>
                  <a:fillRect l="-28000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6DF77DF1-CC44-0F03-2CA7-C9FBA631675E}"/>
              </a:ext>
            </a:extLst>
          </p:cNvPr>
          <p:cNvSpPr txBox="1"/>
          <p:nvPr/>
        </p:nvSpPr>
        <p:spPr>
          <a:xfrm>
            <a:off x="1847528" y="5597189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Joint </a:t>
            </a:r>
            <a:r>
              <a:rPr lang="de-DE" dirty="0" err="1"/>
              <a:t>space</a:t>
            </a:r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D8B1E91-CCDD-4B84-AFF9-417CAD22F457}"/>
              </a:ext>
            </a:extLst>
          </p:cNvPr>
          <p:cNvSpPr txBox="1"/>
          <p:nvPr/>
        </p:nvSpPr>
        <p:spPr>
          <a:xfrm>
            <a:off x="8328248" y="5589240"/>
            <a:ext cx="186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Cartesian</a:t>
            </a:r>
            <a:r>
              <a:rPr lang="de-DE" dirty="0"/>
              <a:t> </a:t>
            </a:r>
            <a:r>
              <a:rPr lang="de-DE" dirty="0" err="1"/>
              <a:t>space</a:t>
            </a:r>
            <a:endParaRPr lang="de-DE" dirty="0"/>
          </a:p>
        </p:txBody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11604FD3-BF4D-26F5-9432-6C049C20472F}"/>
              </a:ext>
            </a:extLst>
          </p:cNvPr>
          <p:cNvSpPr/>
          <p:nvPr/>
        </p:nvSpPr>
        <p:spPr bwMode="auto">
          <a:xfrm>
            <a:off x="4583832" y="3285104"/>
            <a:ext cx="3241367" cy="1080000"/>
          </a:xfrm>
          <a:prstGeom prst="rightArrow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Forward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kinematics</a:t>
            </a: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Pfeil: nach links 26">
            <a:extLst>
              <a:ext uri="{FF2B5EF4-FFF2-40B4-BE49-F238E27FC236}">
                <a16:creationId xmlns:a16="http://schemas.microsoft.com/office/drawing/2014/main" id="{F490D0ED-7A56-BB47-2CF1-48D4B42CA05A}"/>
              </a:ext>
            </a:extLst>
          </p:cNvPr>
          <p:cNvSpPr/>
          <p:nvPr/>
        </p:nvSpPr>
        <p:spPr bwMode="auto">
          <a:xfrm>
            <a:off x="4537507" y="4437112"/>
            <a:ext cx="3238506" cy="10800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Inverse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kinematics</a:t>
            </a: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BAC5968-90BB-EED6-83CC-EA8C8EE82898}"/>
              </a:ext>
            </a:extLst>
          </p:cNvPr>
          <p:cNvSpPr txBox="1"/>
          <p:nvPr/>
        </p:nvSpPr>
        <p:spPr>
          <a:xfrm rot="5400000">
            <a:off x="3161673" y="4301516"/>
            <a:ext cx="468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9785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Denavit</a:t>
            </a:r>
            <a:r>
              <a:rPr lang="de-DE" dirty="0"/>
              <a:t> Hartenberg (DH) </a:t>
            </a:r>
            <a:r>
              <a:rPr lang="de-DE" dirty="0" err="1"/>
              <a:t>principle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70" y="692150"/>
                <a:ext cx="11018230" cy="5653088"/>
              </a:xfrm>
            </p:spPr>
            <p:txBody>
              <a:bodyPr/>
              <a:lstStyle/>
              <a:p>
                <a:r>
                  <a:rPr lang="de-DE" dirty="0"/>
                  <a:t>Given </a:t>
                </a:r>
                <a:r>
                  <a:rPr lang="de-DE" dirty="0" err="1"/>
                  <a:t>two</a:t>
                </a:r>
                <a:r>
                  <a:rPr lang="de-DE" dirty="0"/>
                  <a:t> </a:t>
                </a:r>
                <a:r>
                  <a:rPr lang="de-DE" dirty="0" err="1"/>
                  <a:t>frames</a:t>
                </a:r>
                <a:r>
                  <a:rPr lang="de-DE" dirty="0"/>
                  <a:t>, </a:t>
                </a:r>
                <a:r>
                  <a:rPr lang="de-DE" dirty="0" err="1"/>
                  <a:t>denoted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frames</a:t>
                </a:r>
                <a:r>
                  <a:rPr lang="de-DE" dirty="0"/>
                  <a:t> 0  and 1, </a:t>
                </a:r>
                <a:r>
                  <a:rPr lang="de-DE" dirty="0" err="1"/>
                  <a:t>there</a:t>
                </a:r>
                <a:r>
                  <a:rPr lang="de-DE" dirty="0"/>
                  <a:t> </a:t>
                </a:r>
                <a:r>
                  <a:rPr lang="de-DE" dirty="0" err="1"/>
                  <a:t>exists</a:t>
                </a:r>
                <a:r>
                  <a:rPr lang="de-DE" dirty="0"/>
                  <a:t> a </a:t>
                </a:r>
                <a:r>
                  <a:rPr lang="de-DE" dirty="0" err="1"/>
                  <a:t>unique</a:t>
                </a:r>
                <a:r>
                  <a:rPr lang="de-DE" dirty="0"/>
                  <a:t> </a:t>
                </a:r>
                <a:r>
                  <a:rPr lang="de-DE" dirty="0" err="1"/>
                  <a:t>homogeneous</a:t>
                </a:r>
                <a:r>
                  <a:rPr lang="de-DE" dirty="0"/>
                  <a:t> </a:t>
                </a:r>
                <a:r>
                  <a:rPr lang="de-DE" dirty="0" err="1"/>
                  <a:t>transformation</a:t>
                </a:r>
                <a:r>
                  <a:rPr lang="de-DE" dirty="0"/>
                  <a:t> </a:t>
                </a:r>
                <a:r>
                  <a:rPr lang="de-DE" dirty="0" err="1"/>
                  <a:t>matrix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translates</a:t>
                </a:r>
                <a:r>
                  <a:rPr lang="de-DE" dirty="0"/>
                  <a:t> </a:t>
                </a:r>
                <a:r>
                  <a:rPr lang="de-DE" dirty="0" err="1"/>
                  <a:t>coordinates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frame 1 </a:t>
                </a:r>
                <a:r>
                  <a:rPr lang="de-DE" dirty="0" err="1"/>
                  <a:t>into</a:t>
                </a:r>
                <a:r>
                  <a:rPr lang="de-DE" dirty="0"/>
                  <a:t> </a:t>
                </a:r>
                <a:r>
                  <a:rPr lang="de-DE" dirty="0" err="1"/>
                  <a:t>those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frame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dirty="0"/>
              </a:p>
              <a:p>
                <a:r>
                  <a:rPr lang="de-DE" dirty="0"/>
                  <a:t>Suppose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two</a:t>
                </a:r>
                <a:r>
                  <a:rPr lang="de-DE" dirty="0"/>
                  <a:t> </a:t>
                </a:r>
                <a:r>
                  <a:rPr lang="de-DE" dirty="0" err="1"/>
                  <a:t>frames</a:t>
                </a:r>
                <a:r>
                  <a:rPr lang="de-DE" dirty="0"/>
                  <a:t> </a:t>
                </a:r>
                <a:r>
                  <a:rPr lang="de-DE" dirty="0" err="1"/>
                  <a:t>have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following</a:t>
                </a:r>
                <a:r>
                  <a:rPr lang="de-DE" dirty="0"/>
                  <a:t> additional </a:t>
                </a:r>
                <a:r>
                  <a:rPr lang="de-DE" dirty="0" err="1"/>
                  <a:t>features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dirty="0"/>
                  <a:t>DH1: The </a:t>
                </a:r>
                <a:r>
                  <a:rPr lang="de-DE" dirty="0" err="1"/>
                  <a:t>axis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perpendicular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axis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dirty="0"/>
              </a:p>
              <a:p>
                <a:pPr lvl="1"/>
                <a:r>
                  <a:rPr lang="de-DE" dirty="0"/>
                  <a:t>DH2: The </a:t>
                </a:r>
                <a:r>
                  <a:rPr lang="de-DE" dirty="0" err="1"/>
                  <a:t>axis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intersects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axis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dirty="0"/>
              </a:p>
              <a:p>
                <a:pPr/>
                <a:r>
                  <a:rPr lang="de-DE" dirty="0"/>
                  <a:t>Under </a:t>
                </a:r>
                <a:r>
                  <a:rPr lang="de-DE" dirty="0" err="1"/>
                  <a:t>these</a:t>
                </a:r>
                <a:r>
                  <a:rPr lang="de-DE" dirty="0"/>
                  <a:t> </a:t>
                </a:r>
                <a:r>
                  <a:rPr lang="de-DE" dirty="0" err="1"/>
                  <a:t>conditions</a:t>
                </a:r>
                <a:r>
                  <a:rPr lang="de-DE" dirty="0"/>
                  <a:t> </a:t>
                </a:r>
                <a:r>
                  <a:rPr lang="de-DE" dirty="0" err="1"/>
                  <a:t>there</a:t>
                </a:r>
                <a:r>
                  <a:rPr lang="de-DE" dirty="0"/>
                  <a:t> </a:t>
                </a:r>
                <a:r>
                  <a:rPr lang="de-DE" dirty="0" err="1"/>
                  <a:t>exist</a:t>
                </a:r>
                <a:r>
                  <a:rPr lang="de-DE" dirty="0"/>
                  <a:t> </a:t>
                </a:r>
                <a:r>
                  <a:rPr lang="de-DE" dirty="0" err="1"/>
                  <a:t>unique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0 2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de-DE" dirty="0"/>
                  <a:t> such </a:t>
                </a:r>
                <a:r>
                  <a:rPr lang="de-DE" dirty="0" err="1"/>
                  <a:t>that</a:t>
                </a:r>
                <a:br>
                  <a:rPr lang="de-DE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𝑅𝑜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𝑇𝑟𝑎𝑛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𝑇𝑟𝑎𝑛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𝑅𝑜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br>
                  <a:rPr lang="de-DE" dirty="0"/>
                </a:b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dirty="0"/>
                  <a:t> – </a:t>
                </a:r>
                <a:r>
                  <a:rPr lang="de-DE" dirty="0" err="1"/>
                  <a:t>distance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de-DE" dirty="0"/>
                </a:b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DE" dirty="0"/>
                  <a:t> – </a:t>
                </a:r>
                <a:r>
                  <a:rPr lang="de-DE" dirty="0" err="1"/>
                  <a:t>distance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de-DE" dirty="0"/>
                </a:b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de-DE" dirty="0"/>
                  <a:t> –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de-DE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normal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de-DE" dirty="0"/>
                </a:b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de-DE" dirty="0"/>
                  <a:t> –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 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normal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de-DE" dirty="0"/>
                </a:br>
                <a:br>
                  <a:rPr lang="de-DE" dirty="0"/>
                </a:b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70" y="692150"/>
                <a:ext cx="11018230" cy="5653088"/>
              </a:xfrm>
              <a:blipFill>
                <a:blip r:embed="rId2"/>
                <a:stretch>
                  <a:fillRect l="-14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Gruppieren 165">
            <a:extLst>
              <a:ext uri="{FF2B5EF4-FFF2-40B4-BE49-F238E27FC236}">
                <a16:creationId xmlns:a16="http://schemas.microsoft.com/office/drawing/2014/main" id="{5565FF21-A240-12AC-4B5E-4310F2E6E147}"/>
              </a:ext>
            </a:extLst>
          </p:cNvPr>
          <p:cNvGrpSpPr/>
          <p:nvPr/>
        </p:nvGrpSpPr>
        <p:grpSpPr>
          <a:xfrm>
            <a:off x="6816080" y="3728065"/>
            <a:ext cx="3963990" cy="2695691"/>
            <a:chOff x="5014233" y="3728065"/>
            <a:chExt cx="3963990" cy="2695691"/>
          </a:xfrm>
        </p:grpSpPr>
        <p:sp>
          <p:nvSpPr>
            <p:cNvPr id="163" name="Bogen 162">
              <a:extLst>
                <a:ext uri="{FF2B5EF4-FFF2-40B4-BE49-F238E27FC236}">
                  <a16:creationId xmlns:a16="http://schemas.microsoft.com/office/drawing/2014/main" id="{541D5BF3-FC0D-4370-2109-2D41EE816764}"/>
                </a:ext>
              </a:extLst>
            </p:cNvPr>
            <p:cNvSpPr/>
            <p:nvPr/>
          </p:nvSpPr>
          <p:spPr bwMode="auto">
            <a:xfrm>
              <a:off x="7711849" y="4252598"/>
              <a:ext cx="1080000" cy="1080000"/>
            </a:xfrm>
            <a:prstGeom prst="arc">
              <a:avLst>
                <a:gd name="adj1" fmla="val 13641062"/>
                <a:gd name="adj2" fmla="val 16201788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2" name="Bogen 161">
              <a:extLst>
                <a:ext uri="{FF2B5EF4-FFF2-40B4-BE49-F238E27FC236}">
                  <a16:creationId xmlns:a16="http://schemas.microsoft.com/office/drawing/2014/main" id="{11749C1E-B249-68EF-C084-DF17A70D854B}"/>
                </a:ext>
              </a:extLst>
            </p:cNvPr>
            <p:cNvSpPr/>
            <p:nvPr/>
          </p:nvSpPr>
          <p:spPr bwMode="auto">
            <a:xfrm>
              <a:off x="5845145" y="5343756"/>
              <a:ext cx="1080000" cy="1080000"/>
            </a:xfrm>
            <a:prstGeom prst="arc">
              <a:avLst>
                <a:gd name="adj1" fmla="val 10868113"/>
                <a:gd name="adj2" fmla="val 1294859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7D9C8F1A-21EB-F19E-EF2A-1AF9805217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3940" y="5870249"/>
              <a:ext cx="324857" cy="277346"/>
            </a:xfrm>
            <a:prstGeom prst="straightConnector1">
              <a:avLst/>
            </a:prstGeom>
            <a:ln>
              <a:solidFill>
                <a:schemeClr val="accent6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mit Pfeil 114">
              <a:extLst>
                <a:ext uri="{FF2B5EF4-FFF2-40B4-BE49-F238E27FC236}">
                  <a16:creationId xmlns:a16="http://schemas.microsoft.com/office/drawing/2014/main" id="{E9A60C9E-9F66-B55F-4E69-D4F69F5A35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8798" y="5409980"/>
              <a:ext cx="0" cy="46665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C2A29C73-E9ED-DA2F-6D2B-6241F3E3FC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3939" y="5643305"/>
              <a:ext cx="324858" cy="24045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 Verbindung mit Pfeil 116">
              <a:extLst>
                <a:ext uri="{FF2B5EF4-FFF2-40B4-BE49-F238E27FC236}">
                  <a16:creationId xmlns:a16="http://schemas.microsoft.com/office/drawing/2014/main" id="{E7F47EB0-0502-2EA3-39FD-9B068C44E2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1849" y="4487264"/>
              <a:ext cx="237716" cy="305333"/>
            </a:xfrm>
            <a:prstGeom prst="straightConnector1">
              <a:avLst/>
            </a:prstGeom>
            <a:ln>
              <a:solidFill>
                <a:schemeClr val="accent6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 Verbindung mit Pfeil 117">
              <a:extLst>
                <a:ext uri="{FF2B5EF4-FFF2-40B4-BE49-F238E27FC236}">
                  <a16:creationId xmlns:a16="http://schemas.microsoft.com/office/drawing/2014/main" id="{5F03FBC0-0822-FF0A-D769-17350763257D}"/>
                </a:ext>
              </a:extLst>
            </p:cNvPr>
            <p:cNvCxnSpPr/>
            <p:nvPr/>
          </p:nvCxnSpPr>
          <p:spPr>
            <a:xfrm>
              <a:off x="8256240" y="4792597"/>
              <a:ext cx="46665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2C86C4ED-6678-3604-397D-0C6E7CF4BA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8208" y="4487264"/>
              <a:ext cx="288032" cy="305333"/>
            </a:xfrm>
            <a:prstGeom prst="straightConnector1">
              <a:avLst/>
            </a:prstGeom>
            <a:ln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feld 119">
                  <a:extLst>
                    <a:ext uri="{FF2B5EF4-FFF2-40B4-BE49-F238E27FC236}">
                      <a16:creationId xmlns:a16="http://schemas.microsoft.com/office/drawing/2014/main" id="{94EB0B6A-69D4-859F-8CB5-8AB05BF60757}"/>
                    </a:ext>
                  </a:extLst>
                </p:cNvPr>
                <p:cNvSpPr txBox="1"/>
                <p:nvPr/>
              </p:nvSpPr>
              <p:spPr>
                <a:xfrm>
                  <a:off x="6032313" y="5358601"/>
                  <a:ext cx="237656" cy="2393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0" name="Textfeld 119">
                  <a:extLst>
                    <a:ext uri="{FF2B5EF4-FFF2-40B4-BE49-F238E27FC236}">
                      <a16:creationId xmlns:a16="http://schemas.microsoft.com/office/drawing/2014/main" id="{94EB0B6A-69D4-859F-8CB5-8AB05BF60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2313" y="5358601"/>
                  <a:ext cx="237656" cy="239373"/>
                </a:xfrm>
                <a:prstGeom prst="rect">
                  <a:avLst/>
                </a:prstGeom>
                <a:blipFill>
                  <a:blip r:embed="rId3"/>
                  <a:stretch>
                    <a:fillRect l="-35897" r="-7692" b="-3846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feld 120">
                  <a:extLst>
                    <a:ext uri="{FF2B5EF4-FFF2-40B4-BE49-F238E27FC236}">
                      <a16:creationId xmlns:a16="http://schemas.microsoft.com/office/drawing/2014/main" id="{B15335AC-D390-AEEF-A3F2-DB33F3C4366E}"/>
                    </a:ext>
                  </a:extLst>
                </p:cNvPr>
                <p:cNvSpPr txBox="1"/>
                <p:nvPr/>
              </p:nvSpPr>
              <p:spPr>
                <a:xfrm>
                  <a:off x="5868657" y="5991013"/>
                  <a:ext cx="237656" cy="2393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1" name="Textfeld 120">
                  <a:extLst>
                    <a:ext uri="{FF2B5EF4-FFF2-40B4-BE49-F238E27FC236}">
                      <a16:creationId xmlns:a16="http://schemas.microsoft.com/office/drawing/2014/main" id="{B15335AC-D390-AEEF-A3F2-DB33F3C43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8657" y="5991013"/>
                  <a:ext cx="237656" cy="239373"/>
                </a:xfrm>
                <a:prstGeom prst="rect">
                  <a:avLst/>
                </a:prstGeom>
                <a:blipFill>
                  <a:blip r:embed="rId4"/>
                  <a:stretch>
                    <a:fillRect l="-46154" r="-7692" b="-4871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feld 121">
                  <a:extLst>
                    <a:ext uri="{FF2B5EF4-FFF2-40B4-BE49-F238E27FC236}">
                      <a16:creationId xmlns:a16="http://schemas.microsoft.com/office/drawing/2014/main" id="{EA0AD55D-80FF-D090-39BE-0C9363D62973}"/>
                    </a:ext>
                  </a:extLst>
                </p:cNvPr>
                <p:cNvSpPr txBox="1"/>
                <p:nvPr/>
              </p:nvSpPr>
              <p:spPr>
                <a:xfrm>
                  <a:off x="6457479" y="5208037"/>
                  <a:ext cx="225022" cy="2393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2" name="Textfeld 121">
                  <a:extLst>
                    <a:ext uri="{FF2B5EF4-FFF2-40B4-BE49-F238E27FC236}">
                      <a16:creationId xmlns:a16="http://schemas.microsoft.com/office/drawing/2014/main" id="{EA0AD55D-80FF-D090-39BE-0C9363D62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7479" y="5208037"/>
                  <a:ext cx="225022" cy="239373"/>
                </a:xfrm>
                <a:prstGeom prst="rect">
                  <a:avLst/>
                </a:prstGeom>
                <a:blipFill>
                  <a:blip r:embed="rId5"/>
                  <a:stretch>
                    <a:fillRect l="-37838" r="-2703" b="-35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feld 122">
                  <a:extLst>
                    <a:ext uri="{FF2B5EF4-FFF2-40B4-BE49-F238E27FC236}">
                      <a16:creationId xmlns:a16="http://schemas.microsoft.com/office/drawing/2014/main" id="{0B2AECEB-E8D2-6916-A595-609C9B3951AD}"/>
                    </a:ext>
                  </a:extLst>
                </p:cNvPr>
                <p:cNvSpPr txBox="1"/>
                <p:nvPr/>
              </p:nvSpPr>
              <p:spPr>
                <a:xfrm>
                  <a:off x="8604062" y="4222696"/>
                  <a:ext cx="237656" cy="2393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3" name="Textfeld 122">
                  <a:extLst>
                    <a:ext uri="{FF2B5EF4-FFF2-40B4-BE49-F238E27FC236}">
                      <a16:creationId xmlns:a16="http://schemas.microsoft.com/office/drawing/2014/main" id="{0B2AECEB-E8D2-6916-A595-609C9B395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62" y="4222696"/>
                  <a:ext cx="237656" cy="239373"/>
                </a:xfrm>
                <a:prstGeom prst="rect">
                  <a:avLst/>
                </a:prstGeom>
                <a:blipFill>
                  <a:blip r:embed="rId6"/>
                  <a:stretch>
                    <a:fillRect l="-46154" r="-2564" b="-4871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feld 123">
                  <a:extLst>
                    <a:ext uri="{FF2B5EF4-FFF2-40B4-BE49-F238E27FC236}">
                      <a16:creationId xmlns:a16="http://schemas.microsoft.com/office/drawing/2014/main" id="{A500E9F2-7AE5-C3DE-1782-775E458C199A}"/>
                    </a:ext>
                  </a:extLst>
                </p:cNvPr>
                <p:cNvSpPr txBox="1"/>
                <p:nvPr/>
              </p:nvSpPr>
              <p:spPr>
                <a:xfrm>
                  <a:off x="8740567" y="4734422"/>
                  <a:ext cx="237656" cy="2393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4" name="Textfeld 123">
                  <a:extLst>
                    <a:ext uri="{FF2B5EF4-FFF2-40B4-BE49-F238E27FC236}">
                      <a16:creationId xmlns:a16="http://schemas.microsoft.com/office/drawing/2014/main" id="{A500E9F2-7AE5-C3DE-1782-775E458C1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0567" y="4734422"/>
                  <a:ext cx="237656" cy="239373"/>
                </a:xfrm>
                <a:prstGeom prst="rect">
                  <a:avLst/>
                </a:prstGeom>
                <a:blipFill>
                  <a:blip r:embed="rId7"/>
                  <a:stretch>
                    <a:fillRect l="-35897" r="-5128" b="-3589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feld 124">
                  <a:extLst>
                    <a:ext uri="{FF2B5EF4-FFF2-40B4-BE49-F238E27FC236}">
                      <a16:creationId xmlns:a16="http://schemas.microsoft.com/office/drawing/2014/main" id="{0C948D86-3502-A8A9-CBDC-A9C6F3B61623}"/>
                    </a:ext>
                  </a:extLst>
                </p:cNvPr>
                <p:cNvSpPr txBox="1"/>
                <p:nvPr/>
              </p:nvSpPr>
              <p:spPr>
                <a:xfrm>
                  <a:off x="7812894" y="4362701"/>
                  <a:ext cx="225022" cy="2393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5" name="Textfeld 124">
                  <a:extLst>
                    <a:ext uri="{FF2B5EF4-FFF2-40B4-BE49-F238E27FC236}">
                      <a16:creationId xmlns:a16="http://schemas.microsoft.com/office/drawing/2014/main" id="{0C948D86-3502-A8A9-CBDC-A9C6F3B616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894" y="4362701"/>
                  <a:ext cx="225022" cy="239373"/>
                </a:xfrm>
                <a:prstGeom prst="rect">
                  <a:avLst/>
                </a:prstGeom>
                <a:blipFill>
                  <a:blip r:embed="rId8"/>
                  <a:stretch>
                    <a:fillRect l="-37838" r="-2703" b="-3589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Ellipse 125">
              <a:extLst>
                <a:ext uri="{FF2B5EF4-FFF2-40B4-BE49-F238E27FC236}">
                  <a16:creationId xmlns:a16="http://schemas.microsoft.com/office/drawing/2014/main" id="{A1506176-1141-4914-D082-85D7C2127E52}"/>
                </a:ext>
              </a:extLst>
            </p:cNvPr>
            <p:cNvSpPr/>
            <p:nvPr/>
          </p:nvSpPr>
          <p:spPr>
            <a:xfrm>
              <a:off x="8220739" y="4766364"/>
              <a:ext cx="62220" cy="622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75B00F88-D44F-A048-B73D-7653E52CEFD3}"/>
                </a:ext>
              </a:extLst>
            </p:cNvPr>
            <p:cNvSpPr/>
            <p:nvPr/>
          </p:nvSpPr>
          <p:spPr>
            <a:xfrm>
              <a:off x="6357687" y="5845520"/>
              <a:ext cx="62220" cy="622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8BE512D8-D7FF-D511-62A3-3EDC18CBEFF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88797" y="4792597"/>
              <a:ext cx="0" cy="62995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Gerader Verbinder 136">
              <a:extLst>
                <a:ext uri="{FF2B5EF4-FFF2-40B4-BE49-F238E27FC236}">
                  <a16:creationId xmlns:a16="http://schemas.microsoft.com/office/drawing/2014/main" id="{E43C1AAD-FEC0-E0DC-515D-64CC10B93B20}"/>
                </a:ext>
              </a:extLst>
            </p:cNvPr>
            <p:cNvCxnSpPr>
              <a:cxnSpLocks/>
              <a:endCxn id="126" idx="2"/>
            </p:cNvCxnSpPr>
            <p:nvPr/>
          </p:nvCxnSpPr>
          <p:spPr bwMode="auto">
            <a:xfrm>
              <a:off x="6388797" y="4797474"/>
              <a:ext cx="183194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E7F5D571-34B6-09C0-74FB-0DC6284A48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39093" y="5140093"/>
              <a:ext cx="724845" cy="51017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Gerader Verbinder 146">
              <a:extLst>
                <a:ext uri="{FF2B5EF4-FFF2-40B4-BE49-F238E27FC236}">
                  <a16:creationId xmlns:a16="http://schemas.microsoft.com/office/drawing/2014/main" id="{9792CF61-DC44-AE91-EBC4-47D014158D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75920" y="5876630"/>
              <a:ext cx="976754" cy="712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Gerader Verbinder 149">
              <a:extLst>
                <a:ext uri="{FF2B5EF4-FFF2-40B4-BE49-F238E27FC236}">
                  <a16:creationId xmlns:a16="http://schemas.microsoft.com/office/drawing/2014/main" id="{C9F4631A-53CA-F32D-0E9D-4D2F22FC5C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7196" y="4077072"/>
              <a:ext cx="371012" cy="4053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Gerader Verbinder 152">
              <a:extLst>
                <a:ext uri="{FF2B5EF4-FFF2-40B4-BE49-F238E27FC236}">
                  <a16:creationId xmlns:a16="http://schemas.microsoft.com/office/drawing/2014/main" id="{A97A62E0-CD61-E54B-F79B-6211CA07DAF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252546" y="4077072"/>
              <a:ext cx="0" cy="71552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Gerade Verbindung mit Pfeil 155">
              <a:extLst>
                <a:ext uri="{FF2B5EF4-FFF2-40B4-BE49-F238E27FC236}">
                  <a16:creationId xmlns:a16="http://schemas.microsoft.com/office/drawing/2014/main" id="{5D46D0DE-4F5A-64CA-8B00-011B6171BE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9378" y="4766364"/>
              <a:ext cx="943" cy="1110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feld 156">
                  <a:extLst>
                    <a:ext uri="{FF2B5EF4-FFF2-40B4-BE49-F238E27FC236}">
                      <a16:creationId xmlns:a16="http://schemas.microsoft.com/office/drawing/2014/main" id="{D70AE871-CBBB-C450-9978-26A2C2EF1D6F}"/>
                    </a:ext>
                  </a:extLst>
                </p:cNvPr>
                <p:cNvSpPr txBox="1"/>
                <p:nvPr/>
              </p:nvSpPr>
              <p:spPr>
                <a:xfrm>
                  <a:off x="5014233" y="5121279"/>
                  <a:ext cx="2044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57" name="Textfeld 156">
                  <a:extLst>
                    <a:ext uri="{FF2B5EF4-FFF2-40B4-BE49-F238E27FC236}">
                      <a16:creationId xmlns:a16="http://schemas.microsoft.com/office/drawing/2014/main" id="{D70AE871-CBBB-C450-9978-26A2C2EF1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4233" y="5121279"/>
                  <a:ext cx="20447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1176" r="-5882" b="-869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Gerade Verbindung mit Pfeil 158">
              <a:extLst>
                <a:ext uri="{FF2B5EF4-FFF2-40B4-BE49-F238E27FC236}">
                  <a16:creationId xmlns:a16="http://schemas.microsoft.com/office/drawing/2014/main" id="{12C3DB2B-C0DA-A184-0C81-8FB794BC09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5816" y="4005064"/>
              <a:ext cx="18979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feld 160">
                  <a:extLst>
                    <a:ext uri="{FF2B5EF4-FFF2-40B4-BE49-F238E27FC236}">
                      <a16:creationId xmlns:a16="http://schemas.microsoft.com/office/drawing/2014/main" id="{61696FE3-9670-5516-ADAB-D9439FC49C9D}"/>
                    </a:ext>
                  </a:extLst>
                </p:cNvPr>
                <p:cNvSpPr txBox="1"/>
                <p:nvPr/>
              </p:nvSpPr>
              <p:spPr>
                <a:xfrm>
                  <a:off x="7300397" y="3728065"/>
                  <a:ext cx="1980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1" name="Textfeld 160">
                  <a:extLst>
                    <a:ext uri="{FF2B5EF4-FFF2-40B4-BE49-F238E27FC236}">
                      <a16:creationId xmlns:a16="http://schemas.microsoft.com/office/drawing/2014/main" id="{61696FE3-9670-5516-ADAB-D9439FC49C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0397" y="3728065"/>
                  <a:ext cx="19800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30303" b="-222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feld 163">
                  <a:extLst>
                    <a:ext uri="{FF2B5EF4-FFF2-40B4-BE49-F238E27FC236}">
                      <a16:creationId xmlns:a16="http://schemas.microsoft.com/office/drawing/2014/main" id="{293E3064-D165-8CE2-6D5C-D6B658DF97AF}"/>
                    </a:ext>
                  </a:extLst>
                </p:cNvPr>
                <p:cNvSpPr txBox="1"/>
                <p:nvPr/>
              </p:nvSpPr>
              <p:spPr>
                <a:xfrm>
                  <a:off x="7964031" y="4005063"/>
                  <a:ext cx="2089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4" name="Textfeld 163">
                  <a:extLst>
                    <a:ext uri="{FF2B5EF4-FFF2-40B4-BE49-F238E27FC236}">
                      <a16:creationId xmlns:a16="http://schemas.microsoft.com/office/drawing/2014/main" id="{293E3064-D165-8CE2-6D5C-D6B658DF9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031" y="4005063"/>
                  <a:ext cx="208967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9412" b="-222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feld 164">
                  <a:extLst>
                    <a:ext uri="{FF2B5EF4-FFF2-40B4-BE49-F238E27FC236}">
                      <a16:creationId xmlns:a16="http://schemas.microsoft.com/office/drawing/2014/main" id="{4107B0C2-5E91-8FF2-92D2-D8248DF22E31}"/>
                    </a:ext>
                  </a:extLst>
                </p:cNvPr>
                <p:cNvSpPr txBox="1"/>
                <p:nvPr/>
              </p:nvSpPr>
              <p:spPr>
                <a:xfrm>
                  <a:off x="5706688" y="5539337"/>
                  <a:ext cx="2006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5" name="Textfeld 164">
                  <a:extLst>
                    <a:ext uri="{FF2B5EF4-FFF2-40B4-BE49-F238E27FC236}">
                      <a16:creationId xmlns:a16="http://schemas.microsoft.com/office/drawing/2014/main" id="{4107B0C2-5E91-8FF2-92D2-D8248DF22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6688" y="5539337"/>
                  <a:ext cx="200696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42424" r="-3030" b="-888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8725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Denavit</a:t>
            </a:r>
            <a:r>
              <a:rPr lang="de-DE" dirty="0"/>
              <a:t> Hartenberg (DH) </a:t>
            </a:r>
            <a:r>
              <a:rPr lang="de-DE" dirty="0" err="1"/>
              <a:t>procedure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70" y="692150"/>
                <a:ext cx="11018230" cy="5653088"/>
              </a:xfrm>
            </p:spPr>
            <p:txBody>
              <a:bodyPr/>
              <a:lstStyle/>
              <a:p>
                <a:r>
                  <a:rPr lang="de-DE" dirty="0"/>
                  <a:t>For a </a:t>
                </a:r>
                <a:r>
                  <a:rPr lang="de-DE" dirty="0" err="1"/>
                  <a:t>given</a:t>
                </a:r>
                <a:r>
                  <a:rPr lang="de-DE" dirty="0"/>
                  <a:t> </a:t>
                </a:r>
                <a:r>
                  <a:rPr lang="de-DE" dirty="0" err="1"/>
                  <a:t>manipulator</a:t>
                </a:r>
                <a:r>
                  <a:rPr lang="de-DE" dirty="0"/>
                  <a:t> </a:t>
                </a:r>
                <a:r>
                  <a:rPr lang="de-DE" dirty="0" err="1"/>
                  <a:t>one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always</a:t>
                </a:r>
                <a:r>
                  <a:rPr lang="de-DE" dirty="0"/>
                  <a:t> </a:t>
                </a:r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:r>
                  <a:rPr lang="de-DE" dirty="0" err="1"/>
                  <a:t>frames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0,…,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so </a:t>
                </a:r>
                <a:r>
                  <a:rPr lang="de-DE" dirty="0" err="1"/>
                  <a:t>that</a:t>
                </a:r>
                <a:r>
                  <a:rPr lang="de-DE" dirty="0"/>
                  <a:t> DH1 and DH2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satisfied</a:t>
                </a:r>
                <a:endParaRPr lang="de-DE" dirty="0"/>
              </a:p>
              <a:p>
                <a:pPr lvl="1"/>
                <a:r>
                  <a:rPr lang="de-DE" dirty="0"/>
                  <a:t>Locations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may</a:t>
                </a:r>
                <a:r>
                  <a:rPr lang="de-DE" dirty="0"/>
                  <a:t> not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intuitively</a:t>
                </a:r>
                <a:r>
                  <a:rPr lang="de-DE" dirty="0"/>
                  <a:t> </a:t>
                </a:r>
                <a:r>
                  <a:rPr lang="de-DE" dirty="0" err="1"/>
                  <a:t>satisfying</a:t>
                </a:r>
                <a:endParaRPr lang="de-DE" dirty="0"/>
              </a:p>
              <a:p>
                <a:pPr lvl="1"/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unique</a:t>
                </a:r>
                <a:r>
                  <a:rPr lang="de-DE" dirty="0"/>
                  <a:t> </a:t>
                </a:r>
                <a:r>
                  <a:rPr lang="de-DE" dirty="0" err="1"/>
                  <a:t>solution</a:t>
                </a:r>
                <a:r>
                  <a:rPr lang="de-DE" dirty="0"/>
                  <a:t> </a:t>
                </a:r>
                <a:r>
                  <a:rPr lang="de-DE" dirty="0" err="1"/>
                  <a:t>even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convention</a:t>
                </a:r>
                <a:endParaRPr lang="de-DE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de-DE" dirty="0"/>
                  <a:t>Definition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motion</a:t>
                </a:r>
                <a:r>
                  <a:rPr lang="de-DE" dirty="0"/>
                  <a:t> </a:t>
                </a:r>
                <a:r>
                  <a:rPr lang="de-DE" dirty="0" err="1"/>
                  <a:t>axis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joint</a:t>
                </a:r>
                <a:r>
                  <a:rPr lang="de-DE" dirty="0"/>
                  <a:t> 1. </a:t>
                </a:r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any</a:t>
                </a:r>
                <a:r>
                  <a:rPr lang="de-DE" dirty="0"/>
                  <a:t> </a:t>
                </a:r>
                <a:r>
                  <a:rPr lang="de-DE" dirty="0" err="1"/>
                  <a:t>convenient</a:t>
                </a:r>
                <a:r>
                  <a:rPr lang="de-DE" dirty="0"/>
                  <a:t> </a:t>
                </a:r>
                <a:r>
                  <a:rPr lang="de-DE" dirty="0" err="1"/>
                  <a:t>manner</a:t>
                </a:r>
                <a:r>
                  <a:rPr lang="de-DE" dirty="0"/>
                  <a:t>, so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resulting</a:t>
                </a:r>
                <a:r>
                  <a:rPr lang="de-DE" dirty="0"/>
                  <a:t> frame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right-handed</a:t>
                </a:r>
                <a:r>
                  <a:rPr lang="de-DE" dirty="0"/>
                  <a:t>.</a:t>
                </a:r>
              </a:p>
              <a:p>
                <a:pPr marL="0" indent="0">
                  <a:buNone/>
                </a:pP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every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repeat: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not </a:t>
                </a:r>
                <a:r>
                  <a:rPr lang="de-DE" dirty="0" err="1"/>
                  <a:t>coplanar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along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 Origin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at </a:t>
                </a:r>
                <a:r>
                  <a:rPr lang="de-DE" dirty="0" err="1"/>
                  <a:t>intersection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parallel: Infinite </a:t>
                </a:r>
                <a:r>
                  <a:rPr lang="de-DE" dirty="0" err="1"/>
                  <a:t>common</a:t>
                </a:r>
                <a:r>
                  <a:rPr lang="de-DE" dirty="0"/>
                  <a:t> </a:t>
                </a:r>
                <a:r>
                  <a:rPr lang="de-DE" dirty="0" err="1"/>
                  <a:t>normals</a:t>
                </a:r>
                <a:r>
                  <a:rPr lang="de-DE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 </a:t>
                </a:r>
                <a:r>
                  <a:rPr lang="de-DE" dirty="0" err="1"/>
                  <a:t>Typical</a:t>
                </a:r>
                <a:r>
                  <a:rPr lang="de-DE" dirty="0"/>
                  <a:t> </a:t>
                </a:r>
                <a:r>
                  <a:rPr lang="de-DE" dirty="0" err="1"/>
                  <a:t>choice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passes</a:t>
                </a:r>
                <a:r>
                  <a:rPr lang="de-DE" dirty="0"/>
                  <a:t> </a:t>
                </a:r>
                <a:r>
                  <a:rPr lang="de-DE" dirty="0" err="1"/>
                  <a:t>through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direction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/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normal </a:t>
                </a:r>
                <a:r>
                  <a:rPr lang="de-DE" dirty="0" err="1"/>
                  <a:t>to</a:t>
                </a:r>
                <a:r>
                  <a:rPr lang="de-DE" dirty="0"/>
                  <a:t> plane </a:t>
                </a:r>
                <a:r>
                  <a:rPr lang="de-DE" dirty="0" err="1"/>
                  <a:t>formed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chosen</a:t>
                </a:r>
                <a:r>
                  <a:rPr lang="de-DE" dirty="0"/>
                  <a:t> </a:t>
                </a:r>
                <a:r>
                  <a:rPr lang="de-DE" dirty="0" err="1"/>
                  <a:t>along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Typical</a:t>
                </a:r>
                <a:r>
                  <a:rPr lang="de-DE" dirty="0"/>
                  <a:t> </a:t>
                </a:r>
                <a:r>
                  <a:rPr lang="de-DE" dirty="0" err="1"/>
                  <a:t>choice</a:t>
                </a:r>
                <a:r>
                  <a:rPr lang="de-DE" dirty="0"/>
                  <a:t>: </a:t>
                </a:r>
                <a:r>
                  <a:rPr lang="de-DE" dirty="0" err="1"/>
                  <a:t>intersection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Frame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(end-</a:t>
                </a:r>
                <a:r>
                  <a:rPr lang="de-DE" dirty="0" err="1"/>
                  <a:t>effector</a:t>
                </a:r>
                <a:r>
                  <a:rPr lang="de-DE" dirty="0"/>
                  <a:t> frame):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placed</a:t>
                </a:r>
                <a:r>
                  <a:rPr lang="de-DE" dirty="0"/>
                  <a:t> </a:t>
                </a:r>
                <a:r>
                  <a:rPr lang="de-DE" dirty="0" err="1"/>
                  <a:t>symetrically</a:t>
                </a:r>
                <a:r>
                  <a:rPr lang="de-DE" dirty="0"/>
                  <a:t> in </a:t>
                </a:r>
                <a:r>
                  <a:rPr lang="de-DE" dirty="0" err="1"/>
                  <a:t>gripper</a:t>
                </a:r>
                <a:r>
                  <a:rPr lang="de-DE" dirty="0"/>
                  <a:t>.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de-DE" dirty="0"/>
                  <a:t> arbitraly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70" y="692150"/>
                <a:ext cx="11018230" cy="5653088"/>
              </a:xfrm>
              <a:blipFill>
                <a:blip r:embed="rId2"/>
                <a:stretch>
                  <a:fillRect l="-1549" r="-13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814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18E2849-101E-3B33-0934-236823C0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677D6B-9A43-487C-A010-F1BE6B5F3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9DAE48-A056-F3AA-FB8B-2274DEF173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</a:t>
            </a:r>
            <a:r>
              <a:rPr lang="de-DE" dirty="0" err="1"/>
              <a:t>frames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091946-958D-E4B1-7E3A-DCC16BF4E5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forward</a:t>
            </a:r>
            <a:r>
              <a:rPr lang="de-DE" dirty="0"/>
              <a:t> </a:t>
            </a:r>
            <a:r>
              <a:rPr lang="de-DE" dirty="0" err="1"/>
              <a:t>kinematics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359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70" y="692150"/>
                <a:ext cx="5510120" cy="5653088"/>
              </a:xfrm>
            </p:spPr>
            <p:txBody>
              <a:bodyPr/>
              <a:lstStyle/>
              <a:p>
                <a:r>
                  <a:rPr lang="de-DE" dirty="0"/>
                  <a:t>Definition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motion</a:t>
                </a:r>
                <a:r>
                  <a:rPr lang="de-DE" dirty="0"/>
                  <a:t> </a:t>
                </a:r>
                <a:r>
                  <a:rPr lang="de-DE" dirty="0" err="1"/>
                  <a:t>axis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joint</a:t>
                </a:r>
                <a:r>
                  <a:rPr lang="de-DE" dirty="0"/>
                  <a:t> 1. </a:t>
                </a:r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any</a:t>
                </a:r>
                <a:r>
                  <a:rPr lang="de-DE" dirty="0"/>
                  <a:t> </a:t>
                </a:r>
                <a:r>
                  <a:rPr lang="de-DE" dirty="0" err="1"/>
                  <a:t>convenient</a:t>
                </a:r>
                <a:r>
                  <a:rPr lang="de-DE" dirty="0"/>
                  <a:t> </a:t>
                </a:r>
                <a:r>
                  <a:rPr lang="de-DE" dirty="0" err="1"/>
                  <a:t>manner</a:t>
                </a:r>
                <a:r>
                  <a:rPr lang="de-DE" dirty="0"/>
                  <a:t>, so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resulting</a:t>
                </a:r>
                <a:r>
                  <a:rPr lang="de-DE" dirty="0"/>
                  <a:t> frame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right-handed</a:t>
                </a:r>
                <a:r>
                  <a:rPr lang="de-DE" dirty="0"/>
                  <a:t>.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70" y="692150"/>
                <a:ext cx="5510120" cy="5653088"/>
              </a:xfrm>
              <a:blipFill>
                <a:blip r:embed="rId2"/>
                <a:stretch>
                  <a:fillRect l="-28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6969900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6939530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6949282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7560178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4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23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70" y="692150"/>
                <a:ext cx="5367218" cy="56530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For </a:t>
                </a:r>
                <a:r>
                  <a:rPr lang="de-DE" dirty="0" err="1"/>
                  <a:t>every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repeat: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not </a:t>
                </a:r>
                <a:r>
                  <a:rPr lang="de-DE" dirty="0" err="1"/>
                  <a:t>coplanar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along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 Origin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at </a:t>
                </a:r>
                <a:r>
                  <a:rPr lang="de-DE" dirty="0" err="1"/>
                  <a:t>intersection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parallel: Infinite </a:t>
                </a:r>
                <a:r>
                  <a:rPr lang="de-DE" dirty="0" err="1"/>
                  <a:t>common</a:t>
                </a:r>
                <a:r>
                  <a:rPr lang="de-DE" dirty="0"/>
                  <a:t> </a:t>
                </a:r>
                <a:r>
                  <a:rPr lang="de-DE" dirty="0" err="1"/>
                  <a:t>normals</a:t>
                </a:r>
                <a:r>
                  <a:rPr lang="de-DE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 </a:t>
                </a:r>
                <a:r>
                  <a:rPr lang="de-DE" dirty="0" err="1"/>
                  <a:t>Typical</a:t>
                </a:r>
                <a:r>
                  <a:rPr lang="de-DE" dirty="0"/>
                  <a:t> </a:t>
                </a:r>
                <a:r>
                  <a:rPr lang="de-DE" dirty="0" err="1"/>
                  <a:t>choice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passes</a:t>
                </a:r>
                <a:r>
                  <a:rPr lang="de-DE" dirty="0"/>
                  <a:t> </a:t>
                </a:r>
                <a:r>
                  <a:rPr lang="de-DE" dirty="0" err="1"/>
                  <a:t>through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direction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/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normal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to</a:t>
                </a:r>
                <a:r>
                  <a:rPr lang="de-DE" dirty="0">
                    <a:solidFill>
                      <a:schemeClr val="accent2"/>
                    </a:solidFill>
                  </a:rPr>
                  <a:t> plane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formed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by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can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be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chosen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along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(</a:t>
                </a:r>
                <a:r>
                  <a:rPr lang="de-DE" dirty="0" err="1">
                    <a:solidFill>
                      <a:schemeClr val="accent2"/>
                    </a:solidFill>
                  </a:rPr>
                  <a:t>Typical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choice</a:t>
                </a:r>
                <a:r>
                  <a:rPr lang="de-DE" dirty="0">
                    <a:solidFill>
                      <a:schemeClr val="accent2"/>
                    </a:solidFill>
                  </a:rPr>
                  <a:t>: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intersection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of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)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70" y="692150"/>
                <a:ext cx="5367218" cy="5653088"/>
              </a:xfrm>
              <a:blipFill>
                <a:blip r:embed="rId2"/>
                <a:stretch>
                  <a:fillRect l="-3178" r="-19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6969900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6939530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6949282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7560178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4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A0BEAE4-2C58-B5F8-670E-BB8EB7550B01}"/>
              </a:ext>
            </a:extLst>
          </p:cNvPr>
          <p:cNvCxnSpPr>
            <a:cxnSpLocks/>
          </p:cNvCxnSpPr>
          <p:nvPr/>
        </p:nvCxnSpPr>
        <p:spPr>
          <a:xfrm flipV="1">
            <a:off x="6384407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A5D93E6-46C5-FCBF-4772-BA1BE2D27E54}"/>
              </a:ext>
            </a:extLst>
          </p:cNvPr>
          <p:cNvCxnSpPr/>
          <p:nvPr/>
        </p:nvCxnSpPr>
        <p:spPr>
          <a:xfrm>
            <a:off x="6388798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49B8EE2-86A9-2526-F3C4-721BCD440A81}"/>
              </a:ext>
            </a:extLst>
          </p:cNvPr>
          <p:cNvCxnSpPr>
            <a:cxnSpLocks/>
          </p:cNvCxnSpPr>
          <p:nvPr/>
        </p:nvCxnSpPr>
        <p:spPr>
          <a:xfrm flipV="1">
            <a:off x="6388798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30D42A-6744-2CC9-6605-1110266341F3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30D42A-6744-2CC9-6605-111026634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32699A-31DD-52E4-5227-E5955194A02C}"/>
                  </a:ext>
                </a:extLst>
              </p:cNvPr>
              <p:cNvSpPr txBox="1"/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32699A-31DD-52E4-5227-E5955194A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blipFill>
                <a:blip r:embed="rId7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5C835A-AE65-E471-91BC-D622D1C5C78E}"/>
                  </a:ext>
                </a:extLst>
              </p:cNvPr>
              <p:cNvSpPr txBox="1"/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5C835A-AE65-E471-91BC-D622D1C5C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blipFill>
                <a:blip r:embed="rId8"/>
                <a:stretch>
                  <a:fillRect l="-35897" r="-5128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9ED2E6D-0455-43C9-1AB9-DC39CE00A309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9ED2E6D-0455-43C9-1AB9-DC39CE00A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9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Bogen 12">
            <a:extLst>
              <a:ext uri="{FF2B5EF4-FFF2-40B4-BE49-F238E27FC236}">
                <a16:creationId xmlns:a16="http://schemas.microsoft.com/office/drawing/2014/main" id="{4290A9CE-FD39-C96C-90DF-FA0040204DEC}"/>
              </a:ext>
            </a:extLst>
          </p:cNvPr>
          <p:cNvSpPr/>
          <p:nvPr/>
        </p:nvSpPr>
        <p:spPr>
          <a:xfrm rot="2701103">
            <a:off x="6413782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384D8E2-839E-4BF2-8432-28B352940D98}"/>
              </a:ext>
            </a:extLst>
          </p:cNvPr>
          <p:cNvSpPr/>
          <p:nvPr/>
        </p:nvSpPr>
        <p:spPr>
          <a:xfrm>
            <a:off x="6353297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A0028F3-EFEC-73F7-F1D1-6B02A167E464}"/>
                  </a:ext>
                </a:extLst>
              </p:cNvPr>
              <p:cNvSpPr txBox="1"/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A0028F3-EFEC-73F7-F1D1-6B02A167E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43590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25F34AD-632E-5AAE-C6DC-6B57EE6DE748}"/>
              </a:ext>
            </a:extLst>
          </p:cNvPr>
          <p:cNvCxnSpPr>
            <a:cxnSpLocks/>
          </p:cNvCxnSpPr>
          <p:nvPr/>
        </p:nvCxnSpPr>
        <p:spPr>
          <a:xfrm>
            <a:off x="5995787" y="4868030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65FCE9-9955-42A2-2E41-74B751A39FDB}"/>
                  </a:ext>
                </a:extLst>
              </p:cNvPr>
              <p:cNvSpPr txBox="1"/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65FCE9-9955-42A2-2E41-74B751A39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blipFill>
                <a:blip r:embed="rId11"/>
                <a:stretch>
                  <a:fillRect l="-4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63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70" y="692150"/>
                <a:ext cx="5367218" cy="56530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For </a:t>
                </a:r>
                <a:r>
                  <a:rPr lang="de-DE" dirty="0" err="1"/>
                  <a:t>every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repeat: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not </a:t>
                </a:r>
                <a:r>
                  <a:rPr lang="de-DE" dirty="0" err="1"/>
                  <a:t>coplanar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along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 Origin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at </a:t>
                </a:r>
                <a:r>
                  <a:rPr lang="de-DE" dirty="0" err="1"/>
                  <a:t>intersection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parallel: Infinite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common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normals</a:t>
                </a:r>
                <a:r>
                  <a:rPr lang="de-DE" dirty="0">
                    <a:solidFill>
                      <a:schemeClr val="accent2"/>
                    </a:solidFill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.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Typical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choice</a:t>
                </a:r>
                <a:r>
                  <a:rPr lang="de-DE" dirty="0">
                    <a:solidFill>
                      <a:schemeClr val="accent2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using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common</a:t>
                </a:r>
                <a:r>
                  <a:rPr lang="de-DE" dirty="0">
                    <a:solidFill>
                      <a:schemeClr val="accent2"/>
                    </a:solidFill>
                  </a:rPr>
                  <a:t> normal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that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passes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through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in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direction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of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/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normal </a:t>
                </a:r>
                <a:r>
                  <a:rPr lang="de-DE" dirty="0" err="1">
                    <a:solidFill>
                      <a:schemeClr val="tx1"/>
                    </a:solidFill>
                  </a:rPr>
                  <a:t>to</a:t>
                </a:r>
                <a:r>
                  <a:rPr lang="de-DE" dirty="0">
                    <a:solidFill>
                      <a:schemeClr val="tx1"/>
                    </a:solidFill>
                  </a:rPr>
                  <a:t> plane </a:t>
                </a:r>
                <a:r>
                  <a:rPr lang="de-DE" dirty="0" err="1">
                    <a:solidFill>
                      <a:schemeClr val="tx1"/>
                    </a:solidFill>
                  </a:rPr>
                  <a:t>formed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by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can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chosen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along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(</a:t>
                </a:r>
                <a:r>
                  <a:rPr lang="de-DE" dirty="0" err="1">
                    <a:solidFill>
                      <a:schemeClr val="tx1"/>
                    </a:solidFill>
                  </a:rPr>
                  <a:t>Typical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choice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intersection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of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70" y="692150"/>
                <a:ext cx="5367218" cy="5653088"/>
              </a:xfrm>
              <a:blipFill>
                <a:blip r:embed="rId2"/>
                <a:stretch>
                  <a:fillRect l="-3178" r="-19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6969900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6939530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6949282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7560178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4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A0BEAE4-2C58-B5F8-670E-BB8EB7550B01}"/>
              </a:ext>
            </a:extLst>
          </p:cNvPr>
          <p:cNvCxnSpPr>
            <a:cxnSpLocks/>
          </p:cNvCxnSpPr>
          <p:nvPr/>
        </p:nvCxnSpPr>
        <p:spPr>
          <a:xfrm flipV="1">
            <a:off x="6384407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A5D93E6-46C5-FCBF-4772-BA1BE2D27E54}"/>
              </a:ext>
            </a:extLst>
          </p:cNvPr>
          <p:cNvCxnSpPr/>
          <p:nvPr/>
        </p:nvCxnSpPr>
        <p:spPr>
          <a:xfrm>
            <a:off x="6388798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49B8EE2-86A9-2526-F3C4-721BCD440A81}"/>
              </a:ext>
            </a:extLst>
          </p:cNvPr>
          <p:cNvCxnSpPr>
            <a:cxnSpLocks/>
          </p:cNvCxnSpPr>
          <p:nvPr/>
        </p:nvCxnSpPr>
        <p:spPr>
          <a:xfrm flipV="1">
            <a:off x="6388798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30D42A-6744-2CC9-6605-1110266341F3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30D42A-6744-2CC9-6605-111026634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32699A-31DD-52E4-5227-E5955194A02C}"/>
                  </a:ext>
                </a:extLst>
              </p:cNvPr>
              <p:cNvSpPr txBox="1"/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32699A-31DD-52E4-5227-E5955194A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blipFill>
                <a:blip r:embed="rId7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5C835A-AE65-E471-91BC-D622D1C5C78E}"/>
                  </a:ext>
                </a:extLst>
              </p:cNvPr>
              <p:cNvSpPr txBox="1"/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5C835A-AE65-E471-91BC-D622D1C5C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blipFill>
                <a:blip r:embed="rId8"/>
                <a:stretch>
                  <a:fillRect l="-35897" r="-5128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9ED2E6D-0455-43C9-1AB9-DC39CE00A309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9ED2E6D-0455-43C9-1AB9-DC39CE00A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9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Bogen 12">
            <a:extLst>
              <a:ext uri="{FF2B5EF4-FFF2-40B4-BE49-F238E27FC236}">
                <a16:creationId xmlns:a16="http://schemas.microsoft.com/office/drawing/2014/main" id="{4290A9CE-FD39-C96C-90DF-FA0040204DEC}"/>
              </a:ext>
            </a:extLst>
          </p:cNvPr>
          <p:cNvSpPr/>
          <p:nvPr/>
        </p:nvSpPr>
        <p:spPr>
          <a:xfrm rot="2701103">
            <a:off x="6413782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384D8E2-839E-4BF2-8432-28B352940D98}"/>
              </a:ext>
            </a:extLst>
          </p:cNvPr>
          <p:cNvSpPr/>
          <p:nvPr/>
        </p:nvSpPr>
        <p:spPr>
          <a:xfrm>
            <a:off x="6353297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A0028F3-EFEC-73F7-F1D1-6B02A167E464}"/>
                  </a:ext>
                </a:extLst>
              </p:cNvPr>
              <p:cNvSpPr txBox="1"/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A0028F3-EFEC-73F7-F1D1-6B02A167E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43590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25F34AD-632E-5AAE-C6DC-6B57EE6DE748}"/>
              </a:ext>
            </a:extLst>
          </p:cNvPr>
          <p:cNvCxnSpPr>
            <a:cxnSpLocks/>
          </p:cNvCxnSpPr>
          <p:nvPr/>
        </p:nvCxnSpPr>
        <p:spPr>
          <a:xfrm>
            <a:off x="5995787" y="4868030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65FCE9-9955-42A2-2E41-74B751A39FDB}"/>
                  </a:ext>
                </a:extLst>
              </p:cNvPr>
              <p:cNvSpPr txBox="1"/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65FCE9-9955-42A2-2E41-74B751A39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blipFill>
                <a:blip r:embed="rId11"/>
                <a:stretch>
                  <a:fillRect l="-4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CB47DA7-B119-A44D-798E-33A55298F7A3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CB47DA7-B119-A44D-798E-33A55298F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9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3C84D92-4FF6-656F-42CE-1293D7A0614B}"/>
              </a:ext>
            </a:extLst>
          </p:cNvPr>
          <p:cNvCxnSpPr>
            <a:cxnSpLocks/>
          </p:cNvCxnSpPr>
          <p:nvPr/>
        </p:nvCxnSpPr>
        <p:spPr>
          <a:xfrm rot="1200000" flipV="1">
            <a:off x="6768547" y="3604337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6894A4A9-4276-6523-B46D-1B98AF8C2CE6}"/>
              </a:ext>
            </a:extLst>
          </p:cNvPr>
          <p:cNvCxnSpPr>
            <a:cxnSpLocks/>
          </p:cNvCxnSpPr>
          <p:nvPr/>
        </p:nvCxnSpPr>
        <p:spPr>
          <a:xfrm rot="1200000">
            <a:off x="6669824" y="413070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49B61380-7403-49A4-CBC1-198598526C53}"/>
              </a:ext>
            </a:extLst>
          </p:cNvPr>
          <p:cNvCxnSpPr>
            <a:cxnSpLocks/>
          </p:cNvCxnSpPr>
          <p:nvPr/>
        </p:nvCxnSpPr>
        <p:spPr>
          <a:xfrm rot="1200000" flipV="1">
            <a:off x="6716761" y="3864511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60C3065-06D6-98C8-46F5-35A51A75F35D}"/>
                  </a:ext>
                </a:extLst>
              </p:cNvPr>
              <p:cNvSpPr txBox="1"/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60C3065-06D6-98C8-46F5-35A51A75F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blipFill>
                <a:blip r:embed="rId12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18358605-11FA-E2CD-410A-6FC84DFBAB54}"/>
                  </a:ext>
                </a:extLst>
              </p:cNvPr>
              <p:cNvSpPr txBox="1"/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18358605-11FA-E2CD-410A-6FC84DFBA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blipFill>
                <a:blip r:embed="rId13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Bogen 33">
            <a:extLst>
              <a:ext uri="{FF2B5EF4-FFF2-40B4-BE49-F238E27FC236}">
                <a16:creationId xmlns:a16="http://schemas.microsoft.com/office/drawing/2014/main" id="{EC30722D-6423-38A6-FF9A-066AE897B80A}"/>
              </a:ext>
            </a:extLst>
          </p:cNvPr>
          <p:cNvSpPr/>
          <p:nvPr/>
        </p:nvSpPr>
        <p:spPr>
          <a:xfrm rot="3185177">
            <a:off x="6738905" y="3879631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C1BD294-5DD3-ADD0-07BC-920A0F200E15}"/>
              </a:ext>
            </a:extLst>
          </p:cNvPr>
          <p:cNvSpPr/>
          <p:nvPr/>
        </p:nvSpPr>
        <p:spPr>
          <a:xfrm>
            <a:off x="6660298" y="400968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8D172B78-668B-EEAE-9F77-9670D2C493D0}"/>
                  </a:ext>
                </a:extLst>
              </p:cNvPr>
              <p:cNvSpPr txBox="1"/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8D172B78-668B-EEAE-9F77-9670D2C49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blipFill>
                <a:blip r:embed="rId14"/>
                <a:stretch>
                  <a:fillRect l="-46154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F3164A2-3541-A1AC-AF57-A04144257CD8}"/>
              </a:ext>
            </a:extLst>
          </p:cNvPr>
          <p:cNvCxnSpPr>
            <a:cxnSpLocks/>
          </p:cNvCxnSpPr>
          <p:nvPr/>
        </p:nvCxnSpPr>
        <p:spPr>
          <a:xfrm flipH="1">
            <a:off x="5995787" y="3935287"/>
            <a:ext cx="295276" cy="825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0C41D50-E5C6-80C6-D128-ABB9577F8FE1}"/>
                  </a:ext>
                </a:extLst>
              </p:cNvPr>
              <p:cNvSpPr txBox="1"/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0C41D50-E5C6-80C6-D128-ABB9577F8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blipFill>
                <a:blip r:embed="rId15"/>
                <a:stretch>
                  <a:fillRect l="-35000" r="-7500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257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70" y="692150"/>
                <a:ext cx="5367218" cy="56530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For </a:t>
                </a:r>
                <a:r>
                  <a:rPr lang="de-DE" dirty="0" err="1"/>
                  <a:t>every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repeat: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not </a:t>
                </a:r>
                <a:r>
                  <a:rPr lang="de-DE" dirty="0" err="1"/>
                  <a:t>coplanar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along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 Origin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at </a:t>
                </a:r>
                <a:r>
                  <a:rPr lang="de-DE" dirty="0" err="1"/>
                  <a:t>intersection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normal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.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parallel: Infinite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common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normals</a:t>
                </a:r>
                <a:r>
                  <a:rPr lang="de-DE" dirty="0">
                    <a:solidFill>
                      <a:schemeClr val="accent2"/>
                    </a:solidFill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.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Typical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choice</a:t>
                </a:r>
                <a:r>
                  <a:rPr lang="de-DE" dirty="0">
                    <a:solidFill>
                      <a:schemeClr val="accent2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using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common</a:t>
                </a:r>
                <a:r>
                  <a:rPr lang="de-DE" dirty="0">
                    <a:solidFill>
                      <a:schemeClr val="accent2"/>
                    </a:solidFill>
                  </a:rPr>
                  <a:t> normal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that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passes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through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in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direction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of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/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normal </a:t>
                </a:r>
                <a:r>
                  <a:rPr lang="de-DE" dirty="0" err="1">
                    <a:solidFill>
                      <a:schemeClr val="tx1"/>
                    </a:solidFill>
                  </a:rPr>
                  <a:t>to</a:t>
                </a:r>
                <a:r>
                  <a:rPr lang="de-DE" dirty="0">
                    <a:solidFill>
                      <a:schemeClr val="tx1"/>
                    </a:solidFill>
                  </a:rPr>
                  <a:t> plane </a:t>
                </a:r>
                <a:r>
                  <a:rPr lang="de-DE" dirty="0" err="1">
                    <a:solidFill>
                      <a:schemeClr val="tx1"/>
                    </a:solidFill>
                  </a:rPr>
                  <a:t>formed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by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can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chosen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along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(</a:t>
                </a:r>
                <a:r>
                  <a:rPr lang="de-DE" dirty="0" err="1">
                    <a:solidFill>
                      <a:schemeClr val="tx1"/>
                    </a:solidFill>
                  </a:rPr>
                  <a:t>Typical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choice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intersection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of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70" y="692150"/>
                <a:ext cx="5367218" cy="5653088"/>
              </a:xfrm>
              <a:blipFill>
                <a:blip r:embed="rId2"/>
                <a:stretch>
                  <a:fillRect l="-3178" r="-19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6969900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6939530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6949282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7560178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4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A0BEAE4-2C58-B5F8-670E-BB8EB7550B01}"/>
              </a:ext>
            </a:extLst>
          </p:cNvPr>
          <p:cNvCxnSpPr>
            <a:cxnSpLocks/>
          </p:cNvCxnSpPr>
          <p:nvPr/>
        </p:nvCxnSpPr>
        <p:spPr>
          <a:xfrm flipV="1">
            <a:off x="6384407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A5D93E6-46C5-FCBF-4772-BA1BE2D27E54}"/>
              </a:ext>
            </a:extLst>
          </p:cNvPr>
          <p:cNvCxnSpPr/>
          <p:nvPr/>
        </p:nvCxnSpPr>
        <p:spPr>
          <a:xfrm>
            <a:off x="6388798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49B8EE2-86A9-2526-F3C4-721BCD440A81}"/>
              </a:ext>
            </a:extLst>
          </p:cNvPr>
          <p:cNvCxnSpPr>
            <a:cxnSpLocks/>
          </p:cNvCxnSpPr>
          <p:nvPr/>
        </p:nvCxnSpPr>
        <p:spPr>
          <a:xfrm flipV="1">
            <a:off x="6388798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30D42A-6744-2CC9-6605-1110266341F3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30D42A-6744-2CC9-6605-111026634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32699A-31DD-52E4-5227-E5955194A02C}"/>
                  </a:ext>
                </a:extLst>
              </p:cNvPr>
              <p:cNvSpPr txBox="1"/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32699A-31DD-52E4-5227-E5955194A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blipFill>
                <a:blip r:embed="rId7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5C835A-AE65-E471-91BC-D622D1C5C78E}"/>
                  </a:ext>
                </a:extLst>
              </p:cNvPr>
              <p:cNvSpPr txBox="1"/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5C835A-AE65-E471-91BC-D622D1C5C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blipFill>
                <a:blip r:embed="rId8"/>
                <a:stretch>
                  <a:fillRect l="-35897" r="-5128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9ED2E6D-0455-43C9-1AB9-DC39CE00A309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9ED2E6D-0455-43C9-1AB9-DC39CE00A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9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Bogen 12">
            <a:extLst>
              <a:ext uri="{FF2B5EF4-FFF2-40B4-BE49-F238E27FC236}">
                <a16:creationId xmlns:a16="http://schemas.microsoft.com/office/drawing/2014/main" id="{4290A9CE-FD39-C96C-90DF-FA0040204DEC}"/>
              </a:ext>
            </a:extLst>
          </p:cNvPr>
          <p:cNvSpPr/>
          <p:nvPr/>
        </p:nvSpPr>
        <p:spPr>
          <a:xfrm rot="2701103">
            <a:off x="6413782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384D8E2-839E-4BF2-8432-28B352940D98}"/>
              </a:ext>
            </a:extLst>
          </p:cNvPr>
          <p:cNvSpPr/>
          <p:nvPr/>
        </p:nvSpPr>
        <p:spPr>
          <a:xfrm>
            <a:off x="6353297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A0028F3-EFEC-73F7-F1D1-6B02A167E464}"/>
                  </a:ext>
                </a:extLst>
              </p:cNvPr>
              <p:cNvSpPr txBox="1"/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A0028F3-EFEC-73F7-F1D1-6B02A167E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43590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25F34AD-632E-5AAE-C6DC-6B57EE6DE748}"/>
              </a:ext>
            </a:extLst>
          </p:cNvPr>
          <p:cNvCxnSpPr>
            <a:cxnSpLocks/>
          </p:cNvCxnSpPr>
          <p:nvPr/>
        </p:nvCxnSpPr>
        <p:spPr>
          <a:xfrm>
            <a:off x="5995787" y="4868030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65FCE9-9955-42A2-2E41-74B751A39FDB}"/>
                  </a:ext>
                </a:extLst>
              </p:cNvPr>
              <p:cNvSpPr txBox="1"/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65FCE9-9955-42A2-2E41-74B751A39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blipFill>
                <a:blip r:embed="rId11"/>
                <a:stretch>
                  <a:fillRect l="-4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CB47DA7-B119-A44D-798E-33A55298F7A3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CB47DA7-B119-A44D-798E-33A55298F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9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3C84D92-4FF6-656F-42CE-1293D7A0614B}"/>
              </a:ext>
            </a:extLst>
          </p:cNvPr>
          <p:cNvCxnSpPr>
            <a:cxnSpLocks/>
          </p:cNvCxnSpPr>
          <p:nvPr/>
        </p:nvCxnSpPr>
        <p:spPr>
          <a:xfrm rot="1200000" flipV="1">
            <a:off x="6768547" y="3604337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6894A4A9-4276-6523-B46D-1B98AF8C2CE6}"/>
              </a:ext>
            </a:extLst>
          </p:cNvPr>
          <p:cNvCxnSpPr>
            <a:cxnSpLocks/>
          </p:cNvCxnSpPr>
          <p:nvPr/>
        </p:nvCxnSpPr>
        <p:spPr>
          <a:xfrm rot="1200000">
            <a:off x="6669824" y="413070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49B61380-7403-49A4-CBC1-198598526C53}"/>
              </a:ext>
            </a:extLst>
          </p:cNvPr>
          <p:cNvCxnSpPr>
            <a:cxnSpLocks/>
          </p:cNvCxnSpPr>
          <p:nvPr/>
        </p:nvCxnSpPr>
        <p:spPr>
          <a:xfrm rot="1200000" flipV="1">
            <a:off x="6716761" y="3864511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60C3065-06D6-98C8-46F5-35A51A75F35D}"/>
                  </a:ext>
                </a:extLst>
              </p:cNvPr>
              <p:cNvSpPr txBox="1"/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60C3065-06D6-98C8-46F5-35A51A75F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blipFill>
                <a:blip r:embed="rId12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18358605-11FA-E2CD-410A-6FC84DFBAB54}"/>
                  </a:ext>
                </a:extLst>
              </p:cNvPr>
              <p:cNvSpPr txBox="1"/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18358605-11FA-E2CD-410A-6FC84DFBA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blipFill>
                <a:blip r:embed="rId13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Bogen 33">
            <a:extLst>
              <a:ext uri="{FF2B5EF4-FFF2-40B4-BE49-F238E27FC236}">
                <a16:creationId xmlns:a16="http://schemas.microsoft.com/office/drawing/2014/main" id="{EC30722D-6423-38A6-FF9A-066AE897B80A}"/>
              </a:ext>
            </a:extLst>
          </p:cNvPr>
          <p:cNvSpPr/>
          <p:nvPr/>
        </p:nvSpPr>
        <p:spPr>
          <a:xfrm rot="3185177">
            <a:off x="6738905" y="3879631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C1BD294-5DD3-ADD0-07BC-920A0F200E15}"/>
              </a:ext>
            </a:extLst>
          </p:cNvPr>
          <p:cNvSpPr/>
          <p:nvPr/>
        </p:nvSpPr>
        <p:spPr>
          <a:xfrm>
            <a:off x="6660298" y="400968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8D172B78-668B-EEAE-9F77-9670D2C493D0}"/>
                  </a:ext>
                </a:extLst>
              </p:cNvPr>
              <p:cNvSpPr txBox="1"/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8D172B78-668B-EEAE-9F77-9670D2C49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blipFill>
                <a:blip r:embed="rId14"/>
                <a:stretch>
                  <a:fillRect l="-46154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F3164A2-3541-A1AC-AF57-A04144257CD8}"/>
              </a:ext>
            </a:extLst>
          </p:cNvPr>
          <p:cNvCxnSpPr>
            <a:cxnSpLocks/>
          </p:cNvCxnSpPr>
          <p:nvPr/>
        </p:nvCxnSpPr>
        <p:spPr>
          <a:xfrm flipH="1">
            <a:off x="5995787" y="3935287"/>
            <a:ext cx="295276" cy="825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0C41D50-E5C6-80C6-D128-ABB9577F8FE1}"/>
                  </a:ext>
                </a:extLst>
              </p:cNvPr>
              <p:cNvSpPr txBox="1"/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0C41D50-E5C6-80C6-D128-ABB9577F8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blipFill>
                <a:blip r:embed="rId15"/>
                <a:stretch>
                  <a:fillRect l="-35000" r="-7500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DE063AF6-9D96-F52C-B548-F6FDEF292F23}"/>
              </a:ext>
            </a:extLst>
          </p:cNvPr>
          <p:cNvSpPr/>
          <p:nvPr/>
        </p:nvSpPr>
        <p:spPr>
          <a:xfrm rot="16831541">
            <a:off x="11043672" y="3267553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B67327D4-1E40-E260-BF15-CCFE210BF249}"/>
              </a:ext>
            </a:extLst>
          </p:cNvPr>
          <p:cNvSpPr/>
          <p:nvPr/>
        </p:nvSpPr>
        <p:spPr>
          <a:xfrm>
            <a:off x="11268353" y="3552744"/>
            <a:ext cx="258213" cy="2582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428DAEB7-2EC6-16AF-DCE4-EA25390C3DDC}"/>
              </a:ext>
            </a:extLst>
          </p:cNvPr>
          <p:cNvSpPr/>
          <p:nvPr/>
        </p:nvSpPr>
        <p:spPr>
          <a:xfrm rot="19386561">
            <a:off x="9341636" y="3489760"/>
            <a:ext cx="1650286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0E37CFA8-A59E-33CC-312F-DD07D80DACA7}"/>
              </a:ext>
            </a:extLst>
          </p:cNvPr>
          <p:cNvSpPr/>
          <p:nvPr/>
        </p:nvSpPr>
        <p:spPr>
          <a:xfrm rot="16831541">
            <a:off x="10926445" y="3918950"/>
            <a:ext cx="795160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3B49A6A5-6D8D-0EFF-7043-152D7F01F680}"/>
              </a:ext>
            </a:extLst>
          </p:cNvPr>
          <p:cNvSpPr/>
          <p:nvPr/>
        </p:nvSpPr>
        <p:spPr>
          <a:xfrm rot="563368">
            <a:off x="9474191" y="4053909"/>
            <a:ext cx="19273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Bogen 46">
            <a:extLst>
              <a:ext uri="{FF2B5EF4-FFF2-40B4-BE49-F238E27FC236}">
                <a16:creationId xmlns:a16="http://schemas.microsoft.com/office/drawing/2014/main" id="{A59F77F3-88A8-EEFE-4E0D-161E23038C79}"/>
              </a:ext>
            </a:extLst>
          </p:cNvPr>
          <p:cNvSpPr/>
          <p:nvPr/>
        </p:nvSpPr>
        <p:spPr>
          <a:xfrm rot="406834">
            <a:off x="11280270" y="3550411"/>
            <a:ext cx="236436" cy="236436"/>
          </a:xfrm>
          <a:prstGeom prst="arc">
            <a:avLst>
              <a:gd name="adj1" fmla="val 11391794"/>
              <a:gd name="adj2" fmla="val 0"/>
            </a:avLst>
          </a:prstGeom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6BADC9E1-36E0-E4C8-0C6A-F4670AE67D1F}"/>
              </a:ext>
            </a:extLst>
          </p:cNvPr>
          <p:cNvCxnSpPr>
            <a:cxnSpLocks/>
          </p:cNvCxnSpPr>
          <p:nvPr/>
        </p:nvCxnSpPr>
        <p:spPr>
          <a:xfrm rot="600000" flipV="1">
            <a:off x="10750376" y="2723321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CEA62844-5D34-3546-2451-81BDA44A8D74}"/>
              </a:ext>
            </a:extLst>
          </p:cNvPr>
          <p:cNvCxnSpPr>
            <a:cxnSpLocks/>
          </p:cNvCxnSpPr>
          <p:nvPr/>
        </p:nvCxnSpPr>
        <p:spPr>
          <a:xfrm rot="600000">
            <a:off x="10706246" y="322694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CA44A49F-3147-34FC-06A0-0D3A5E28726F}"/>
              </a:ext>
            </a:extLst>
          </p:cNvPr>
          <p:cNvCxnSpPr>
            <a:cxnSpLocks/>
          </p:cNvCxnSpPr>
          <p:nvPr/>
        </p:nvCxnSpPr>
        <p:spPr>
          <a:xfrm rot="600000" flipV="1">
            <a:off x="10728276" y="2975132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llipse 53">
            <a:extLst>
              <a:ext uri="{FF2B5EF4-FFF2-40B4-BE49-F238E27FC236}">
                <a16:creationId xmlns:a16="http://schemas.microsoft.com/office/drawing/2014/main" id="{3AB4D77B-CEE7-05B7-6A56-8405C69A096D}"/>
              </a:ext>
            </a:extLst>
          </p:cNvPr>
          <p:cNvSpPr/>
          <p:nvPr/>
        </p:nvSpPr>
        <p:spPr>
          <a:xfrm>
            <a:off x="9159629" y="2275370"/>
            <a:ext cx="2955452" cy="295545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4ABFB978-E336-51BD-953C-B3580A1DB170}"/>
              </a:ext>
            </a:extLst>
          </p:cNvPr>
          <p:cNvSpPr/>
          <p:nvPr/>
        </p:nvSpPr>
        <p:spPr>
          <a:xfrm>
            <a:off x="6489536" y="2601453"/>
            <a:ext cx="933301" cy="93330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24D7C2EC-A20B-FADF-A92D-12A29B8B8684}"/>
              </a:ext>
            </a:extLst>
          </p:cNvPr>
          <p:cNvCxnSpPr>
            <a:cxnSpLocks/>
            <a:stCxn id="55" idx="0"/>
            <a:endCxn id="54" idx="0"/>
          </p:cNvCxnSpPr>
          <p:nvPr/>
        </p:nvCxnSpPr>
        <p:spPr>
          <a:xfrm flipV="1">
            <a:off x="6956186" y="2275370"/>
            <a:ext cx="3681169" cy="326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63CFCC96-D6AE-A8E6-3129-5AADAD0DE7F5}"/>
              </a:ext>
            </a:extLst>
          </p:cNvPr>
          <p:cNvCxnSpPr>
            <a:cxnSpLocks/>
          </p:cNvCxnSpPr>
          <p:nvPr/>
        </p:nvCxnSpPr>
        <p:spPr>
          <a:xfrm flipH="1" flipV="1">
            <a:off x="6809523" y="3527023"/>
            <a:ext cx="3197008" cy="15631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85ECC5DF-D956-E0EB-C8B6-7ADB357FBCFA}"/>
                  </a:ext>
                </a:extLst>
              </p:cNvPr>
              <p:cNvSpPr txBox="1"/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85ECC5DF-D956-E0EB-C8B6-7ADB357FB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blipFill>
                <a:blip r:embed="rId16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46882848-8E9E-7AA8-EA7B-D08D75F500F6}"/>
                  </a:ext>
                </a:extLst>
              </p:cNvPr>
              <p:cNvSpPr txBox="1"/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46882848-8E9E-7AA8-EA7B-D08D75F50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blipFill>
                <a:blip r:embed="rId17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A32398BB-F189-AB6D-A50C-74DFC999AF14}"/>
                  </a:ext>
                </a:extLst>
              </p:cNvPr>
              <p:cNvSpPr txBox="1"/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A32398BB-F189-AB6D-A50C-74DFC999A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blipFill>
                <a:blip r:embed="rId18"/>
                <a:stretch>
                  <a:fillRect l="-39474" r="-789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Bogen 63">
            <a:extLst>
              <a:ext uri="{FF2B5EF4-FFF2-40B4-BE49-F238E27FC236}">
                <a16:creationId xmlns:a16="http://schemas.microsoft.com/office/drawing/2014/main" id="{8BC5A71F-2AE6-05A6-D445-8F76E1F67A9D}"/>
              </a:ext>
            </a:extLst>
          </p:cNvPr>
          <p:cNvSpPr/>
          <p:nvPr/>
        </p:nvSpPr>
        <p:spPr>
          <a:xfrm rot="3185177">
            <a:off x="10761944" y="2962725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1908E24-5AA0-5537-FE3E-04F4662B4529}"/>
                  </a:ext>
                </a:extLst>
              </p:cNvPr>
              <p:cNvSpPr txBox="1"/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1908E24-5AA0-5537-FE3E-04F4662B4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blipFill>
                <a:blip r:embed="rId19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1BDFFE0C-B8D3-2B7F-5B5B-4972EB6DCA4F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6" y="2667553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A440FC3A-C8F3-DDF3-0C5D-F5D45237F695}"/>
              </a:ext>
            </a:extLst>
          </p:cNvPr>
          <p:cNvCxnSpPr>
            <a:cxnSpLocks/>
          </p:cNvCxnSpPr>
          <p:nvPr/>
        </p:nvCxnSpPr>
        <p:spPr>
          <a:xfrm rot="600000">
            <a:off x="6845907" y="3171176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976CA01A-1AE6-DC13-0C13-92FDC6A47AA1}"/>
              </a:ext>
            </a:extLst>
          </p:cNvPr>
          <p:cNvCxnSpPr>
            <a:cxnSpLocks/>
          </p:cNvCxnSpPr>
          <p:nvPr/>
        </p:nvCxnSpPr>
        <p:spPr>
          <a:xfrm rot="600000" flipV="1">
            <a:off x="6867936" y="2919364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Ellipse 80">
            <a:extLst>
              <a:ext uri="{FF2B5EF4-FFF2-40B4-BE49-F238E27FC236}">
                <a16:creationId xmlns:a16="http://schemas.microsoft.com/office/drawing/2014/main" id="{497D8723-A5FC-A469-E55A-D4D28F25B0D8}"/>
              </a:ext>
            </a:extLst>
          </p:cNvPr>
          <p:cNvSpPr/>
          <p:nvPr/>
        </p:nvSpPr>
        <p:spPr>
          <a:xfrm>
            <a:off x="6828877" y="309045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405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70" y="692150"/>
                <a:ext cx="5367218" cy="56530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For </a:t>
                </a:r>
                <a:r>
                  <a:rPr lang="de-DE" dirty="0" err="1"/>
                  <a:t>every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repeat: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not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coplanar</a:t>
                </a:r>
                <a:r>
                  <a:rPr lang="de-DE" dirty="0">
                    <a:solidFill>
                      <a:schemeClr val="accent2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along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common</a:t>
                </a:r>
                <a:r>
                  <a:rPr lang="de-DE" dirty="0">
                    <a:solidFill>
                      <a:schemeClr val="accent2"/>
                    </a:solidFill>
                  </a:rPr>
                  <a:t> normal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of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. Origin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 at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intersection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of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common</a:t>
                </a:r>
                <a:r>
                  <a:rPr lang="de-DE" dirty="0">
                    <a:solidFill>
                      <a:schemeClr val="accent2"/>
                    </a:solidFill>
                  </a:rPr>
                  <a:t> normal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parallel: Infinite </a:t>
                </a:r>
                <a:r>
                  <a:rPr lang="de-DE" dirty="0" err="1">
                    <a:solidFill>
                      <a:schemeClr val="tx1"/>
                    </a:solidFill>
                  </a:rPr>
                  <a:t>common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normals</a:t>
                </a:r>
                <a:r>
                  <a:rPr lang="de-DE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. </a:t>
                </a:r>
                <a:r>
                  <a:rPr lang="de-DE" dirty="0" err="1">
                    <a:solidFill>
                      <a:schemeClr val="tx1"/>
                    </a:solidFill>
                  </a:rPr>
                  <a:t>Typical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choice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using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common</a:t>
                </a:r>
                <a:r>
                  <a:rPr lang="de-DE" dirty="0">
                    <a:solidFill>
                      <a:schemeClr val="tx1"/>
                    </a:solidFill>
                  </a:rPr>
                  <a:t> normal </a:t>
                </a:r>
                <a:r>
                  <a:rPr lang="de-DE" dirty="0" err="1">
                    <a:solidFill>
                      <a:schemeClr val="tx1"/>
                    </a:solidFill>
                  </a:rPr>
                  <a:t>that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passes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through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in </a:t>
                </a:r>
                <a:r>
                  <a:rPr lang="de-DE" dirty="0" err="1">
                    <a:solidFill>
                      <a:schemeClr val="tx1"/>
                    </a:solidFill>
                  </a:rPr>
                  <a:t>direction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of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normal </a:t>
                </a:r>
                <a:r>
                  <a:rPr lang="de-DE" dirty="0" err="1">
                    <a:solidFill>
                      <a:schemeClr val="tx1"/>
                    </a:solidFill>
                  </a:rPr>
                  <a:t>to</a:t>
                </a:r>
                <a:r>
                  <a:rPr lang="de-DE" dirty="0">
                    <a:solidFill>
                      <a:schemeClr val="tx1"/>
                    </a:solidFill>
                  </a:rPr>
                  <a:t> plane </a:t>
                </a:r>
                <a:r>
                  <a:rPr lang="de-DE" dirty="0" err="1">
                    <a:solidFill>
                      <a:schemeClr val="tx1"/>
                    </a:solidFill>
                  </a:rPr>
                  <a:t>formed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by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can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chosen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along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(</a:t>
                </a:r>
                <a:r>
                  <a:rPr lang="de-DE" dirty="0" err="1">
                    <a:solidFill>
                      <a:schemeClr val="tx1"/>
                    </a:solidFill>
                  </a:rPr>
                  <a:t>Typical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choice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intersection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of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70" y="692150"/>
                <a:ext cx="5367218" cy="5653088"/>
              </a:xfrm>
              <a:blipFill>
                <a:blip r:embed="rId2"/>
                <a:stretch>
                  <a:fillRect l="-3178" r="-19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6969900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6939530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6949282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7560178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4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A0BEAE4-2C58-B5F8-670E-BB8EB7550B01}"/>
              </a:ext>
            </a:extLst>
          </p:cNvPr>
          <p:cNvCxnSpPr>
            <a:cxnSpLocks/>
          </p:cNvCxnSpPr>
          <p:nvPr/>
        </p:nvCxnSpPr>
        <p:spPr>
          <a:xfrm flipV="1">
            <a:off x="6384407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A5D93E6-46C5-FCBF-4772-BA1BE2D27E54}"/>
              </a:ext>
            </a:extLst>
          </p:cNvPr>
          <p:cNvCxnSpPr/>
          <p:nvPr/>
        </p:nvCxnSpPr>
        <p:spPr>
          <a:xfrm>
            <a:off x="6388798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49B8EE2-86A9-2526-F3C4-721BCD440A81}"/>
              </a:ext>
            </a:extLst>
          </p:cNvPr>
          <p:cNvCxnSpPr>
            <a:cxnSpLocks/>
          </p:cNvCxnSpPr>
          <p:nvPr/>
        </p:nvCxnSpPr>
        <p:spPr>
          <a:xfrm flipV="1">
            <a:off x="6388798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30D42A-6744-2CC9-6605-1110266341F3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30D42A-6744-2CC9-6605-111026634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32699A-31DD-52E4-5227-E5955194A02C}"/>
                  </a:ext>
                </a:extLst>
              </p:cNvPr>
              <p:cNvSpPr txBox="1"/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32699A-31DD-52E4-5227-E5955194A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blipFill>
                <a:blip r:embed="rId7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5C835A-AE65-E471-91BC-D622D1C5C78E}"/>
                  </a:ext>
                </a:extLst>
              </p:cNvPr>
              <p:cNvSpPr txBox="1"/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5C835A-AE65-E471-91BC-D622D1C5C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blipFill>
                <a:blip r:embed="rId8"/>
                <a:stretch>
                  <a:fillRect l="-35897" r="-5128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9ED2E6D-0455-43C9-1AB9-DC39CE00A309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9ED2E6D-0455-43C9-1AB9-DC39CE00A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9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Bogen 12">
            <a:extLst>
              <a:ext uri="{FF2B5EF4-FFF2-40B4-BE49-F238E27FC236}">
                <a16:creationId xmlns:a16="http://schemas.microsoft.com/office/drawing/2014/main" id="{4290A9CE-FD39-C96C-90DF-FA0040204DEC}"/>
              </a:ext>
            </a:extLst>
          </p:cNvPr>
          <p:cNvSpPr/>
          <p:nvPr/>
        </p:nvSpPr>
        <p:spPr>
          <a:xfrm rot="2701103">
            <a:off x="6413782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384D8E2-839E-4BF2-8432-28B352940D98}"/>
              </a:ext>
            </a:extLst>
          </p:cNvPr>
          <p:cNvSpPr/>
          <p:nvPr/>
        </p:nvSpPr>
        <p:spPr>
          <a:xfrm>
            <a:off x="6353297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A0028F3-EFEC-73F7-F1D1-6B02A167E464}"/>
                  </a:ext>
                </a:extLst>
              </p:cNvPr>
              <p:cNvSpPr txBox="1"/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A0028F3-EFEC-73F7-F1D1-6B02A167E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43590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25F34AD-632E-5AAE-C6DC-6B57EE6DE748}"/>
              </a:ext>
            </a:extLst>
          </p:cNvPr>
          <p:cNvCxnSpPr>
            <a:cxnSpLocks/>
          </p:cNvCxnSpPr>
          <p:nvPr/>
        </p:nvCxnSpPr>
        <p:spPr>
          <a:xfrm>
            <a:off x="5995787" y="4868030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65FCE9-9955-42A2-2E41-74B751A39FDB}"/>
                  </a:ext>
                </a:extLst>
              </p:cNvPr>
              <p:cNvSpPr txBox="1"/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65FCE9-9955-42A2-2E41-74B751A39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blipFill>
                <a:blip r:embed="rId11"/>
                <a:stretch>
                  <a:fillRect l="-4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CB47DA7-B119-A44D-798E-33A55298F7A3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CB47DA7-B119-A44D-798E-33A55298F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9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3C84D92-4FF6-656F-42CE-1293D7A0614B}"/>
              </a:ext>
            </a:extLst>
          </p:cNvPr>
          <p:cNvCxnSpPr>
            <a:cxnSpLocks/>
          </p:cNvCxnSpPr>
          <p:nvPr/>
        </p:nvCxnSpPr>
        <p:spPr>
          <a:xfrm rot="1200000" flipV="1">
            <a:off x="6768547" y="3604337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6894A4A9-4276-6523-B46D-1B98AF8C2CE6}"/>
              </a:ext>
            </a:extLst>
          </p:cNvPr>
          <p:cNvCxnSpPr>
            <a:cxnSpLocks/>
          </p:cNvCxnSpPr>
          <p:nvPr/>
        </p:nvCxnSpPr>
        <p:spPr>
          <a:xfrm rot="1200000">
            <a:off x="6669824" y="413070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49B61380-7403-49A4-CBC1-198598526C53}"/>
              </a:ext>
            </a:extLst>
          </p:cNvPr>
          <p:cNvCxnSpPr>
            <a:cxnSpLocks/>
          </p:cNvCxnSpPr>
          <p:nvPr/>
        </p:nvCxnSpPr>
        <p:spPr>
          <a:xfrm rot="1200000" flipV="1">
            <a:off x="6716761" y="3864511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60C3065-06D6-98C8-46F5-35A51A75F35D}"/>
                  </a:ext>
                </a:extLst>
              </p:cNvPr>
              <p:cNvSpPr txBox="1"/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60C3065-06D6-98C8-46F5-35A51A75F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blipFill>
                <a:blip r:embed="rId12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18358605-11FA-E2CD-410A-6FC84DFBAB54}"/>
                  </a:ext>
                </a:extLst>
              </p:cNvPr>
              <p:cNvSpPr txBox="1"/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18358605-11FA-E2CD-410A-6FC84DFBA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blipFill>
                <a:blip r:embed="rId13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Bogen 33">
            <a:extLst>
              <a:ext uri="{FF2B5EF4-FFF2-40B4-BE49-F238E27FC236}">
                <a16:creationId xmlns:a16="http://schemas.microsoft.com/office/drawing/2014/main" id="{EC30722D-6423-38A6-FF9A-066AE897B80A}"/>
              </a:ext>
            </a:extLst>
          </p:cNvPr>
          <p:cNvSpPr/>
          <p:nvPr/>
        </p:nvSpPr>
        <p:spPr>
          <a:xfrm rot="3185177">
            <a:off x="6738905" y="3879631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C1BD294-5DD3-ADD0-07BC-920A0F200E15}"/>
              </a:ext>
            </a:extLst>
          </p:cNvPr>
          <p:cNvSpPr/>
          <p:nvPr/>
        </p:nvSpPr>
        <p:spPr>
          <a:xfrm>
            <a:off x="6660298" y="400968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8D172B78-668B-EEAE-9F77-9670D2C493D0}"/>
                  </a:ext>
                </a:extLst>
              </p:cNvPr>
              <p:cNvSpPr txBox="1"/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8D172B78-668B-EEAE-9F77-9670D2C49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blipFill>
                <a:blip r:embed="rId14"/>
                <a:stretch>
                  <a:fillRect l="-46154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F3164A2-3541-A1AC-AF57-A04144257CD8}"/>
              </a:ext>
            </a:extLst>
          </p:cNvPr>
          <p:cNvCxnSpPr>
            <a:cxnSpLocks/>
          </p:cNvCxnSpPr>
          <p:nvPr/>
        </p:nvCxnSpPr>
        <p:spPr>
          <a:xfrm flipH="1">
            <a:off x="5995787" y="3935287"/>
            <a:ext cx="295276" cy="825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0C41D50-E5C6-80C6-D128-ABB9577F8FE1}"/>
                  </a:ext>
                </a:extLst>
              </p:cNvPr>
              <p:cNvSpPr txBox="1"/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0C41D50-E5C6-80C6-D128-ABB9577F8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blipFill>
                <a:blip r:embed="rId15"/>
                <a:stretch>
                  <a:fillRect l="-35000" r="-7500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DE063AF6-9D96-F52C-B548-F6FDEF292F23}"/>
              </a:ext>
            </a:extLst>
          </p:cNvPr>
          <p:cNvSpPr/>
          <p:nvPr/>
        </p:nvSpPr>
        <p:spPr>
          <a:xfrm rot="16831541">
            <a:off x="11043672" y="3267553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B67327D4-1E40-E260-BF15-CCFE210BF249}"/>
              </a:ext>
            </a:extLst>
          </p:cNvPr>
          <p:cNvSpPr/>
          <p:nvPr/>
        </p:nvSpPr>
        <p:spPr>
          <a:xfrm>
            <a:off x="11268353" y="3552744"/>
            <a:ext cx="258213" cy="2582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428DAEB7-2EC6-16AF-DCE4-EA25390C3DDC}"/>
              </a:ext>
            </a:extLst>
          </p:cNvPr>
          <p:cNvSpPr/>
          <p:nvPr/>
        </p:nvSpPr>
        <p:spPr>
          <a:xfrm rot="19386561">
            <a:off x="9341636" y="3489760"/>
            <a:ext cx="1650286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0E37CFA8-A59E-33CC-312F-DD07D80DACA7}"/>
              </a:ext>
            </a:extLst>
          </p:cNvPr>
          <p:cNvSpPr/>
          <p:nvPr/>
        </p:nvSpPr>
        <p:spPr>
          <a:xfrm rot="16831541">
            <a:off x="10926445" y="3918950"/>
            <a:ext cx="795160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3B49A6A5-6D8D-0EFF-7043-152D7F01F680}"/>
              </a:ext>
            </a:extLst>
          </p:cNvPr>
          <p:cNvSpPr/>
          <p:nvPr/>
        </p:nvSpPr>
        <p:spPr>
          <a:xfrm rot="563368">
            <a:off x="9474191" y="4053909"/>
            <a:ext cx="19273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Bogen 46">
            <a:extLst>
              <a:ext uri="{FF2B5EF4-FFF2-40B4-BE49-F238E27FC236}">
                <a16:creationId xmlns:a16="http://schemas.microsoft.com/office/drawing/2014/main" id="{A59F77F3-88A8-EEFE-4E0D-161E23038C79}"/>
              </a:ext>
            </a:extLst>
          </p:cNvPr>
          <p:cNvSpPr/>
          <p:nvPr/>
        </p:nvSpPr>
        <p:spPr>
          <a:xfrm rot="406834">
            <a:off x="11280270" y="3550411"/>
            <a:ext cx="236436" cy="236436"/>
          </a:xfrm>
          <a:prstGeom prst="arc">
            <a:avLst>
              <a:gd name="adj1" fmla="val 11391794"/>
              <a:gd name="adj2" fmla="val 0"/>
            </a:avLst>
          </a:prstGeom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6BADC9E1-36E0-E4C8-0C6A-F4670AE67D1F}"/>
              </a:ext>
            </a:extLst>
          </p:cNvPr>
          <p:cNvCxnSpPr>
            <a:cxnSpLocks/>
          </p:cNvCxnSpPr>
          <p:nvPr/>
        </p:nvCxnSpPr>
        <p:spPr>
          <a:xfrm rot="600000" flipV="1">
            <a:off x="10750376" y="2723321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CEA62844-5D34-3546-2451-81BDA44A8D74}"/>
              </a:ext>
            </a:extLst>
          </p:cNvPr>
          <p:cNvCxnSpPr>
            <a:cxnSpLocks/>
          </p:cNvCxnSpPr>
          <p:nvPr/>
        </p:nvCxnSpPr>
        <p:spPr>
          <a:xfrm rot="600000">
            <a:off x="10706246" y="322694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CA44A49F-3147-34FC-06A0-0D3A5E28726F}"/>
              </a:ext>
            </a:extLst>
          </p:cNvPr>
          <p:cNvCxnSpPr>
            <a:cxnSpLocks/>
          </p:cNvCxnSpPr>
          <p:nvPr/>
        </p:nvCxnSpPr>
        <p:spPr>
          <a:xfrm rot="600000" flipV="1">
            <a:off x="10728276" y="2975132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llipse 53">
            <a:extLst>
              <a:ext uri="{FF2B5EF4-FFF2-40B4-BE49-F238E27FC236}">
                <a16:creationId xmlns:a16="http://schemas.microsoft.com/office/drawing/2014/main" id="{3AB4D77B-CEE7-05B7-6A56-8405C69A096D}"/>
              </a:ext>
            </a:extLst>
          </p:cNvPr>
          <p:cNvSpPr/>
          <p:nvPr/>
        </p:nvSpPr>
        <p:spPr>
          <a:xfrm>
            <a:off x="9159629" y="2275370"/>
            <a:ext cx="2955452" cy="295545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4ABFB978-E336-51BD-953C-B3580A1DB170}"/>
              </a:ext>
            </a:extLst>
          </p:cNvPr>
          <p:cNvSpPr/>
          <p:nvPr/>
        </p:nvSpPr>
        <p:spPr>
          <a:xfrm>
            <a:off x="6489536" y="2601453"/>
            <a:ext cx="933301" cy="93330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24D7C2EC-A20B-FADF-A92D-12A29B8B8684}"/>
              </a:ext>
            </a:extLst>
          </p:cNvPr>
          <p:cNvCxnSpPr>
            <a:cxnSpLocks/>
            <a:stCxn id="55" idx="0"/>
            <a:endCxn id="54" idx="0"/>
          </p:cNvCxnSpPr>
          <p:nvPr/>
        </p:nvCxnSpPr>
        <p:spPr>
          <a:xfrm flipV="1">
            <a:off x="6956186" y="2275370"/>
            <a:ext cx="3681169" cy="326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63CFCC96-D6AE-A8E6-3129-5AADAD0DE7F5}"/>
              </a:ext>
            </a:extLst>
          </p:cNvPr>
          <p:cNvCxnSpPr>
            <a:cxnSpLocks/>
          </p:cNvCxnSpPr>
          <p:nvPr/>
        </p:nvCxnSpPr>
        <p:spPr>
          <a:xfrm flipH="1" flipV="1">
            <a:off x="6809523" y="3527023"/>
            <a:ext cx="3197008" cy="15631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85ECC5DF-D956-E0EB-C8B6-7ADB357FBCFA}"/>
                  </a:ext>
                </a:extLst>
              </p:cNvPr>
              <p:cNvSpPr txBox="1"/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85ECC5DF-D956-E0EB-C8B6-7ADB357FB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blipFill>
                <a:blip r:embed="rId16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46882848-8E9E-7AA8-EA7B-D08D75F500F6}"/>
                  </a:ext>
                </a:extLst>
              </p:cNvPr>
              <p:cNvSpPr txBox="1"/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46882848-8E9E-7AA8-EA7B-D08D75F50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blipFill>
                <a:blip r:embed="rId17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A32398BB-F189-AB6D-A50C-74DFC999AF14}"/>
                  </a:ext>
                </a:extLst>
              </p:cNvPr>
              <p:cNvSpPr txBox="1"/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A32398BB-F189-AB6D-A50C-74DFC999A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blipFill>
                <a:blip r:embed="rId18"/>
                <a:stretch>
                  <a:fillRect l="-39474" r="-789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Bogen 63">
            <a:extLst>
              <a:ext uri="{FF2B5EF4-FFF2-40B4-BE49-F238E27FC236}">
                <a16:creationId xmlns:a16="http://schemas.microsoft.com/office/drawing/2014/main" id="{8BC5A71F-2AE6-05A6-D445-8F76E1F67A9D}"/>
              </a:ext>
            </a:extLst>
          </p:cNvPr>
          <p:cNvSpPr/>
          <p:nvPr/>
        </p:nvSpPr>
        <p:spPr>
          <a:xfrm rot="3185177">
            <a:off x="10761944" y="2962725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1908E24-5AA0-5537-FE3E-04F4662B4529}"/>
                  </a:ext>
                </a:extLst>
              </p:cNvPr>
              <p:cNvSpPr txBox="1"/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1908E24-5AA0-5537-FE3E-04F4662B4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blipFill>
                <a:blip r:embed="rId19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1BDFFE0C-B8D3-2B7F-5B5B-4972EB6DCA4F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6" y="2667553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A440FC3A-C8F3-DDF3-0C5D-F5D45237F695}"/>
              </a:ext>
            </a:extLst>
          </p:cNvPr>
          <p:cNvCxnSpPr>
            <a:cxnSpLocks/>
          </p:cNvCxnSpPr>
          <p:nvPr/>
        </p:nvCxnSpPr>
        <p:spPr>
          <a:xfrm rot="600000">
            <a:off x="6845907" y="3171176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976CA01A-1AE6-DC13-0C13-92FDC6A47AA1}"/>
              </a:ext>
            </a:extLst>
          </p:cNvPr>
          <p:cNvCxnSpPr>
            <a:cxnSpLocks/>
          </p:cNvCxnSpPr>
          <p:nvPr/>
        </p:nvCxnSpPr>
        <p:spPr>
          <a:xfrm rot="600000" flipV="1">
            <a:off x="6867936" y="2919364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Ellipse 80">
            <a:extLst>
              <a:ext uri="{FF2B5EF4-FFF2-40B4-BE49-F238E27FC236}">
                <a16:creationId xmlns:a16="http://schemas.microsoft.com/office/drawing/2014/main" id="{497D8723-A5FC-A469-E55A-D4D28F25B0D8}"/>
              </a:ext>
            </a:extLst>
          </p:cNvPr>
          <p:cNvSpPr/>
          <p:nvPr/>
        </p:nvSpPr>
        <p:spPr>
          <a:xfrm>
            <a:off x="6828877" y="309045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270D1817-6033-ECC7-4E1F-9A60CB3739D6}"/>
              </a:ext>
            </a:extLst>
          </p:cNvPr>
          <p:cNvSpPr/>
          <p:nvPr/>
        </p:nvSpPr>
        <p:spPr>
          <a:xfrm>
            <a:off x="11268353" y="3552744"/>
            <a:ext cx="258213" cy="2582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60E716B8-288A-48E2-3368-FEE601437F51}"/>
              </a:ext>
            </a:extLst>
          </p:cNvPr>
          <p:cNvSpPr/>
          <p:nvPr/>
        </p:nvSpPr>
        <p:spPr>
          <a:xfrm rot="16831541">
            <a:off x="10926445" y="3918950"/>
            <a:ext cx="795160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Bogen 52">
            <a:extLst>
              <a:ext uri="{FF2B5EF4-FFF2-40B4-BE49-F238E27FC236}">
                <a16:creationId xmlns:a16="http://schemas.microsoft.com/office/drawing/2014/main" id="{22B035D5-E33D-1A56-2A86-D7171E91A8BD}"/>
              </a:ext>
            </a:extLst>
          </p:cNvPr>
          <p:cNvSpPr/>
          <p:nvPr/>
        </p:nvSpPr>
        <p:spPr>
          <a:xfrm rot="406834">
            <a:off x="11280270" y="3550411"/>
            <a:ext cx="236436" cy="236436"/>
          </a:xfrm>
          <a:prstGeom prst="arc">
            <a:avLst>
              <a:gd name="adj1" fmla="val 11391794"/>
              <a:gd name="adj2" fmla="val 0"/>
            </a:avLst>
          </a:prstGeom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2BB099EE-0C20-6491-D611-FB4AB51E3628}"/>
              </a:ext>
            </a:extLst>
          </p:cNvPr>
          <p:cNvCxnSpPr>
            <a:cxnSpLocks/>
          </p:cNvCxnSpPr>
          <p:nvPr/>
        </p:nvCxnSpPr>
        <p:spPr>
          <a:xfrm rot="600000" flipV="1">
            <a:off x="11312235" y="3845295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AEF16AB5-B81A-9FD5-2809-8A85A3BB9AF2}"/>
              </a:ext>
            </a:extLst>
          </p:cNvPr>
          <p:cNvCxnSpPr>
            <a:cxnSpLocks/>
          </p:cNvCxnSpPr>
          <p:nvPr/>
        </p:nvCxnSpPr>
        <p:spPr>
          <a:xfrm rot="600000">
            <a:off x="11268105" y="4348918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343D3DA4-7947-A5A8-A30B-D59D2CB1D565}"/>
              </a:ext>
            </a:extLst>
          </p:cNvPr>
          <p:cNvCxnSpPr>
            <a:cxnSpLocks/>
          </p:cNvCxnSpPr>
          <p:nvPr/>
        </p:nvCxnSpPr>
        <p:spPr>
          <a:xfrm rot="600000" flipV="1">
            <a:off x="11290135" y="4097107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F84AA4E7-7E51-3031-9CB9-D462F93CCDDB}"/>
                  </a:ext>
                </a:extLst>
              </p:cNvPr>
              <p:cNvSpPr txBox="1"/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F84AA4E7-7E51-3031-9CB9-D462F93CC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blipFill>
                <a:blip r:embed="rId20"/>
                <a:stretch>
                  <a:fillRect l="-35897" r="-769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E1ECC089-70EF-30E7-A62B-9DFF0AEFF619}"/>
                  </a:ext>
                </a:extLst>
              </p:cNvPr>
              <p:cNvSpPr txBox="1"/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E1ECC089-70EF-30E7-A62B-9DFF0AEFF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blipFill>
                <a:blip r:embed="rId21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982C85A6-1387-424C-7E89-CA62BC5916A3}"/>
                  </a:ext>
                </a:extLst>
              </p:cNvPr>
              <p:cNvSpPr txBox="1"/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982C85A6-1387-424C-7E89-CA62BC591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blipFill>
                <a:blip r:embed="rId22"/>
                <a:stretch>
                  <a:fillRect l="-47368" r="-5263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Bogen 69">
            <a:extLst>
              <a:ext uri="{FF2B5EF4-FFF2-40B4-BE49-F238E27FC236}">
                <a16:creationId xmlns:a16="http://schemas.microsoft.com/office/drawing/2014/main" id="{57E9F1DF-6621-680A-A9A7-DD8B2FCE8746}"/>
              </a:ext>
            </a:extLst>
          </p:cNvPr>
          <p:cNvSpPr/>
          <p:nvPr/>
        </p:nvSpPr>
        <p:spPr>
          <a:xfrm rot="809623">
            <a:off x="11183207" y="3871812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495A4D-85F5-00FB-4058-A59BDE3C7090}"/>
                  </a:ext>
                </a:extLst>
              </p:cNvPr>
              <p:cNvSpPr txBox="1"/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495A4D-85F5-00FB-4058-A59BDE3C7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blipFill>
                <a:blip r:embed="rId23"/>
                <a:stretch>
                  <a:fillRect l="-46154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66A47892-0E39-40DD-5FB2-6DFAEE1E18C0}"/>
              </a:ext>
            </a:extLst>
          </p:cNvPr>
          <p:cNvCxnSpPr>
            <a:cxnSpLocks/>
          </p:cNvCxnSpPr>
          <p:nvPr/>
        </p:nvCxnSpPr>
        <p:spPr>
          <a:xfrm flipH="1" flipV="1">
            <a:off x="9301841" y="4223757"/>
            <a:ext cx="1937245" cy="329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E14B3CA3-1013-DFEE-9184-510C3B3A61F2}"/>
                  </a:ext>
                </a:extLst>
              </p:cNvPr>
              <p:cNvSpPr txBox="1"/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E14B3CA3-1013-DFEE-9184-510C3B3A6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blipFill>
                <a:blip r:embed="rId24"/>
                <a:stretch>
                  <a:fillRect l="-35000" r="-5000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21FD0BEB-5E88-8771-8AAF-D2A18C4C60FB}"/>
              </a:ext>
            </a:extLst>
          </p:cNvPr>
          <p:cNvCxnSpPr>
            <a:cxnSpLocks/>
          </p:cNvCxnSpPr>
          <p:nvPr/>
        </p:nvCxnSpPr>
        <p:spPr>
          <a:xfrm flipH="1">
            <a:off x="9259197" y="2978821"/>
            <a:ext cx="1310715" cy="9615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51B501EC-B264-3DF0-B343-4895A26A5AAD}"/>
                  </a:ext>
                </a:extLst>
              </p:cNvPr>
              <p:cNvSpPr txBox="1"/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51B501EC-B264-3DF0-B343-4895A26A5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blipFill>
                <a:blip r:embed="rId25"/>
                <a:stretch>
                  <a:fillRect l="-43902" r="-7317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250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Frames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70" y="692150"/>
                <a:ext cx="5510120" cy="56530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Frame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(end-</a:t>
                </a:r>
                <a:r>
                  <a:rPr lang="de-DE" dirty="0" err="1"/>
                  <a:t>effector</a:t>
                </a:r>
                <a:r>
                  <a:rPr lang="de-DE" dirty="0"/>
                  <a:t> frame):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placed</a:t>
                </a:r>
                <a:r>
                  <a:rPr lang="de-DE" dirty="0"/>
                  <a:t> </a:t>
                </a:r>
                <a:r>
                  <a:rPr lang="de-DE" dirty="0" err="1"/>
                  <a:t>symetrically</a:t>
                </a:r>
                <a:r>
                  <a:rPr lang="de-DE" dirty="0"/>
                  <a:t> in </a:t>
                </a:r>
                <a:r>
                  <a:rPr lang="de-DE" dirty="0" err="1"/>
                  <a:t>gripper</a:t>
                </a:r>
                <a:r>
                  <a:rPr lang="de-DE" dirty="0"/>
                  <a:t>.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de-DE" dirty="0"/>
                  <a:t> arbitraly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𝑡𝑐𝑝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approach</a:t>
                </a:r>
                <a:r>
                  <a:rPr lang="de-DE" dirty="0"/>
                  <a:t> </a:t>
                </a:r>
                <a:r>
                  <a:rPr lang="de-DE" dirty="0" err="1"/>
                  <a:t>direction</a:t>
                </a:r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𝑡𝑐𝑝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sliding</a:t>
                </a:r>
                <a:r>
                  <a:rPr lang="de-DE" dirty="0"/>
                  <a:t> </a:t>
                </a:r>
                <a:r>
                  <a:rPr lang="de-DE" dirty="0" err="1"/>
                  <a:t>direction</a:t>
                </a:r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𝑡𝑐𝑝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normal </a:t>
                </a:r>
                <a:r>
                  <a:rPr lang="de-DE" dirty="0" err="1"/>
                  <a:t>direction</a:t>
                </a:r>
                <a:r>
                  <a:rPr lang="de-DE" dirty="0"/>
                  <a:t> 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70" y="692150"/>
                <a:ext cx="5510120" cy="5653088"/>
              </a:xfrm>
              <a:blipFill>
                <a:blip r:embed="rId2"/>
                <a:stretch>
                  <a:fillRect l="-30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6969900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82DD407-D87B-E149-6CFF-B132DF9EE7CD}"/>
              </a:ext>
            </a:extLst>
          </p:cNvPr>
          <p:cNvSpPr/>
          <p:nvPr/>
        </p:nvSpPr>
        <p:spPr>
          <a:xfrm rot="16831541">
            <a:off x="11043672" y="3267553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FB14C8D-DDB2-4482-18E4-14DFBE2E01F6}"/>
              </a:ext>
            </a:extLst>
          </p:cNvPr>
          <p:cNvSpPr/>
          <p:nvPr/>
        </p:nvSpPr>
        <p:spPr>
          <a:xfrm>
            <a:off x="11268353" y="3552744"/>
            <a:ext cx="258213" cy="2582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396A9A1-27A7-DED8-88B6-A94803EA6706}"/>
              </a:ext>
            </a:extLst>
          </p:cNvPr>
          <p:cNvSpPr/>
          <p:nvPr/>
        </p:nvSpPr>
        <p:spPr>
          <a:xfrm rot="19386561">
            <a:off x="9341636" y="3489760"/>
            <a:ext cx="1650286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9F1B8E4-75B3-361B-0D80-C9E392F14459}"/>
              </a:ext>
            </a:extLst>
          </p:cNvPr>
          <p:cNvSpPr/>
          <p:nvPr/>
        </p:nvSpPr>
        <p:spPr>
          <a:xfrm rot="16831541">
            <a:off x="10926445" y="3918950"/>
            <a:ext cx="795160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8CD801A-A63D-967D-FC50-5F25C5DE68F7}"/>
              </a:ext>
            </a:extLst>
          </p:cNvPr>
          <p:cNvSpPr/>
          <p:nvPr/>
        </p:nvSpPr>
        <p:spPr>
          <a:xfrm rot="563368">
            <a:off x="9474191" y="4053909"/>
            <a:ext cx="19273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3" name="Bogen 12">
            <a:extLst>
              <a:ext uri="{FF2B5EF4-FFF2-40B4-BE49-F238E27FC236}">
                <a16:creationId xmlns:a16="http://schemas.microsoft.com/office/drawing/2014/main" id="{4A21AE47-DF71-9D69-4666-4DC909346E6D}"/>
              </a:ext>
            </a:extLst>
          </p:cNvPr>
          <p:cNvSpPr/>
          <p:nvPr/>
        </p:nvSpPr>
        <p:spPr>
          <a:xfrm rot="406834">
            <a:off x="11280270" y="3550411"/>
            <a:ext cx="236436" cy="236436"/>
          </a:xfrm>
          <a:prstGeom prst="arc">
            <a:avLst>
              <a:gd name="adj1" fmla="val 11391794"/>
              <a:gd name="adj2" fmla="val 0"/>
            </a:avLst>
          </a:prstGeom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510F4DE-43C8-AD3B-01EF-EB1D46C05939}"/>
              </a:ext>
            </a:extLst>
          </p:cNvPr>
          <p:cNvCxnSpPr>
            <a:cxnSpLocks/>
          </p:cNvCxnSpPr>
          <p:nvPr/>
        </p:nvCxnSpPr>
        <p:spPr>
          <a:xfrm flipV="1">
            <a:off x="6384407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BE6A6DF-A1AB-0B5D-A1E5-06E0FA7D77CE}"/>
              </a:ext>
            </a:extLst>
          </p:cNvPr>
          <p:cNvCxnSpPr/>
          <p:nvPr/>
        </p:nvCxnSpPr>
        <p:spPr>
          <a:xfrm>
            <a:off x="6388798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A8A6375-8A7A-B155-89AF-B7236841ACA3}"/>
              </a:ext>
            </a:extLst>
          </p:cNvPr>
          <p:cNvCxnSpPr>
            <a:cxnSpLocks/>
          </p:cNvCxnSpPr>
          <p:nvPr/>
        </p:nvCxnSpPr>
        <p:spPr>
          <a:xfrm flipV="1">
            <a:off x="6388798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4DFA1DC-EEB1-9E39-C06D-C827EB967CE9}"/>
              </a:ext>
            </a:extLst>
          </p:cNvPr>
          <p:cNvCxnSpPr>
            <a:cxnSpLocks/>
          </p:cNvCxnSpPr>
          <p:nvPr/>
        </p:nvCxnSpPr>
        <p:spPr>
          <a:xfrm rot="600000" flipV="1">
            <a:off x="10750376" y="2723321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54F7C84-EE5A-3A1B-5C17-07B52EFC385E}"/>
              </a:ext>
            </a:extLst>
          </p:cNvPr>
          <p:cNvCxnSpPr>
            <a:cxnSpLocks/>
          </p:cNvCxnSpPr>
          <p:nvPr/>
        </p:nvCxnSpPr>
        <p:spPr>
          <a:xfrm rot="600000">
            <a:off x="10706246" y="322694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76AF48E-5E9C-BBA4-FFED-1F7C108FFB3D}"/>
              </a:ext>
            </a:extLst>
          </p:cNvPr>
          <p:cNvCxnSpPr>
            <a:cxnSpLocks/>
          </p:cNvCxnSpPr>
          <p:nvPr/>
        </p:nvCxnSpPr>
        <p:spPr>
          <a:xfrm rot="600000" flipV="1">
            <a:off x="10728276" y="2975132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29EA725-83A0-064F-77C4-B5BF9D009FC9}"/>
              </a:ext>
            </a:extLst>
          </p:cNvPr>
          <p:cNvCxnSpPr>
            <a:cxnSpLocks/>
          </p:cNvCxnSpPr>
          <p:nvPr/>
        </p:nvCxnSpPr>
        <p:spPr>
          <a:xfrm rot="600000" flipV="1">
            <a:off x="11312235" y="3845295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8C94239-11D0-B885-8546-2CAEC3C2F587}"/>
              </a:ext>
            </a:extLst>
          </p:cNvPr>
          <p:cNvCxnSpPr>
            <a:cxnSpLocks/>
          </p:cNvCxnSpPr>
          <p:nvPr/>
        </p:nvCxnSpPr>
        <p:spPr>
          <a:xfrm rot="600000">
            <a:off x="11268105" y="4348918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AABCEB4F-A130-F82F-60AA-C25C4CE2D696}"/>
              </a:ext>
            </a:extLst>
          </p:cNvPr>
          <p:cNvCxnSpPr>
            <a:cxnSpLocks/>
          </p:cNvCxnSpPr>
          <p:nvPr/>
        </p:nvCxnSpPr>
        <p:spPr>
          <a:xfrm rot="600000" flipV="1">
            <a:off x="11290135" y="4097107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6939530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6949282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7560178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4F1036C-6FDA-F527-ADF8-BF8862B214C7}"/>
              </a:ext>
            </a:extLst>
          </p:cNvPr>
          <p:cNvCxnSpPr>
            <a:cxnSpLocks/>
          </p:cNvCxnSpPr>
          <p:nvPr/>
        </p:nvCxnSpPr>
        <p:spPr>
          <a:xfrm rot="600000" flipV="1">
            <a:off x="7696486" y="816333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C82F31D-02C3-FA9E-070B-2AEAB597FBBA}"/>
              </a:ext>
            </a:extLst>
          </p:cNvPr>
          <p:cNvCxnSpPr>
            <a:cxnSpLocks/>
          </p:cNvCxnSpPr>
          <p:nvPr/>
        </p:nvCxnSpPr>
        <p:spPr>
          <a:xfrm flipV="1">
            <a:off x="7655902" y="1082117"/>
            <a:ext cx="168290" cy="197323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488F57D-7DE1-1A0A-950C-6B4F6C5347F5}"/>
              </a:ext>
            </a:extLst>
          </p:cNvPr>
          <p:cNvCxnSpPr>
            <a:cxnSpLocks/>
          </p:cNvCxnSpPr>
          <p:nvPr/>
        </p:nvCxnSpPr>
        <p:spPr>
          <a:xfrm flipH="1" flipV="1">
            <a:off x="7248128" y="1167021"/>
            <a:ext cx="407772" cy="112418"/>
          </a:xfrm>
          <a:prstGeom prst="straightConnector1">
            <a:avLst/>
          </a:prstGeom>
          <a:ln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4D0ACBC0-3425-FA6D-9749-5837FE85B5B4}"/>
              </a:ext>
            </a:extLst>
          </p:cNvPr>
          <p:cNvSpPr/>
          <p:nvPr/>
        </p:nvSpPr>
        <p:spPr>
          <a:xfrm>
            <a:off x="9159629" y="2275370"/>
            <a:ext cx="2955452" cy="295545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BCCC02D-F397-F01E-C901-6668467F87F0}"/>
              </a:ext>
            </a:extLst>
          </p:cNvPr>
          <p:cNvSpPr/>
          <p:nvPr/>
        </p:nvSpPr>
        <p:spPr>
          <a:xfrm>
            <a:off x="6489536" y="2601453"/>
            <a:ext cx="933301" cy="93330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313A6D75-57AE-022F-8AA3-7A37B2C790CA}"/>
              </a:ext>
            </a:extLst>
          </p:cNvPr>
          <p:cNvCxnSpPr>
            <a:cxnSpLocks/>
            <a:stCxn id="37" idx="0"/>
            <a:endCxn id="36" idx="0"/>
          </p:cNvCxnSpPr>
          <p:nvPr/>
        </p:nvCxnSpPr>
        <p:spPr>
          <a:xfrm flipV="1">
            <a:off x="6956186" y="2275370"/>
            <a:ext cx="3681169" cy="326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7D433576-A0CB-D99F-ED61-3835EEE29E54}"/>
              </a:ext>
            </a:extLst>
          </p:cNvPr>
          <p:cNvCxnSpPr>
            <a:cxnSpLocks/>
          </p:cNvCxnSpPr>
          <p:nvPr/>
        </p:nvCxnSpPr>
        <p:spPr>
          <a:xfrm flipH="1" flipV="1">
            <a:off x="6809523" y="3527023"/>
            <a:ext cx="3197008" cy="15631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4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F407044-8A06-E8D2-7208-4EA29909DB81}"/>
                  </a:ext>
                </a:extLst>
              </p:cNvPr>
              <p:cNvSpPr txBox="1"/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F407044-8A06-E8D2-7208-4EA29909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8EC2A5F6-B391-DF2F-79C6-614A16C4A5A7}"/>
                  </a:ext>
                </a:extLst>
              </p:cNvPr>
              <p:cNvSpPr txBox="1"/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8EC2A5F6-B391-DF2F-79C6-614A16C4A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blipFill>
                <a:blip r:embed="rId7"/>
                <a:stretch>
                  <a:fillRect l="-35897" r="-5128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426933D-F7D5-2382-9680-13DA18F1263B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426933D-F7D5-2382-9680-13DA18F12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8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6A4DAB5-381A-145B-F645-04CCD40E4AA2}"/>
              </a:ext>
            </a:extLst>
          </p:cNvPr>
          <p:cNvCxnSpPr>
            <a:cxnSpLocks/>
          </p:cNvCxnSpPr>
          <p:nvPr/>
        </p:nvCxnSpPr>
        <p:spPr>
          <a:xfrm rot="1200000" flipV="1">
            <a:off x="6768547" y="3604337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F868E45D-3789-943E-E1F6-66307FB9AE34}"/>
              </a:ext>
            </a:extLst>
          </p:cNvPr>
          <p:cNvCxnSpPr>
            <a:cxnSpLocks/>
          </p:cNvCxnSpPr>
          <p:nvPr/>
        </p:nvCxnSpPr>
        <p:spPr>
          <a:xfrm rot="1200000">
            <a:off x="6669824" y="413070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ECDB2CA1-A2A3-D9F3-40A1-0AF21A27C508}"/>
              </a:ext>
            </a:extLst>
          </p:cNvPr>
          <p:cNvCxnSpPr>
            <a:cxnSpLocks/>
          </p:cNvCxnSpPr>
          <p:nvPr/>
        </p:nvCxnSpPr>
        <p:spPr>
          <a:xfrm rot="1200000" flipV="1">
            <a:off x="6716761" y="3864511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65E1599-AC26-F696-096C-D08613977F88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6" y="2667553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A4D9689-14F1-A8A3-F423-68D711388565}"/>
              </a:ext>
            </a:extLst>
          </p:cNvPr>
          <p:cNvCxnSpPr>
            <a:cxnSpLocks/>
          </p:cNvCxnSpPr>
          <p:nvPr/>
        </p:nvCxnSpPr>
        <p:spPr>
          <a:xfrm rot="600000">
            <a:off x="6845907" y="3171176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6E6143E-CA14-03AE-71B1-E64EA3559FAA}"/>
              </a:ext>
            </a:extLst>
          </p:cNvPr>
          <p:cNvCxnSpPr>
            <a:cxnSpLocks/>
          </p:cNvCxnSpPr>
          <p:nvPr/>
        </p:nvCxnSpPr>
        <p:spPr>
          <a:xfrm rot="600000" flipV="1">
            <a:off x="6867936" y="2919364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E581648E-AD98-8A32-F8AF-26E3AB1205A5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7" y="2667554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00D86DC-68EA-275B-171C-BB2DDC850F67}"/>
              </a:ext>
            </a:extLst>
          </p:cNvPr>
          <p:cNvCxnSpPr>
            <a:cxnSpLocks/>
          </p:cNvCxnSpPr>
          <p:nvPr/>
        </p:nvCxnSpPr>
        <p:spPr>
          <a:xfrm rot="600000">
            <a:off x="6845908" y="3171176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C0351909-7EDE-2A3B-5287-1E1DAC4FFEFE}"/>
              </a:ext>
            </a:extLst>
          </p:cNvPr>
          <p:cNvCxnSpPr>
            <a:cxnSpLocks/>
          </p:cNvCxnSpPr>
          <p:nvPr/>
        </p:nvCxnSpPr>
        <p:spPr>
          <a:xfrm rot="600000" flipV="1">
            <a:off x="6865121" y="2919859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00525791-5406-2ABA-FB74-36DC5121B4B4}"/>
                  </a:ext>
                </a:extLst>
              </p:cNvPr>
              <p:cNvSpPr txBox="1"/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00525791-5406-2ABA-FB74-36DC5121B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blipFill>
                <a:blip r:embed="rId9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1C4FE72-37BE-F91C-D642-BB7748EB6BAD}"/>
                  </a:ext>
                </a:extLst>
              </p:cNvPr>
              <p:cNvSpPr txBox="1"/>
              <p:nvPr/>
            </p:nvSpPr>
            <p:spPr>
              <a:xfrm>
                <a:off x="6607797" y="336932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1C4FE72-37BE-F91C-D642-BB7748EB6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797" y="3369322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61F26E2F-FB3B-1C6A-9259-C2B0C8DA82FC}"/>
                  </a:ext>
                </a:extLst>
              </p:cNvPr>
              <p:cNvSpPr txBox="1"/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61F26E2F-FB3B-1C6A-9259-C2B0C8DA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blipFill>
                <a:blip r:embed="rId11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FF363309-ACA7-632B-5EBC-3B8A7D5ECB93}"/>
                  </a:ext>
                </a:extLst>
              </p:cNvPr>
              <p:cNvSpPr txBox="1"/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FF363309-ACA7-632B-5EBC-3B8A7D5EC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blipFill>
                <a:blip r:embed="rId12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DBF1468C-4025-1B0C-EE3D-8DE9BFF59054}"/>
                  </a:ext>
                </a:extLst>
              </p:cNvPr>
              <p:cNvSpPr txBox="1"/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DBF1468C-4025-1B0C-EE3D-8DE9BFF5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blipFill>
                <a:blip r:embed="rId13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28D195A4-E146-685E-A204-C6E91E6229B5}"/>
                  </a:ext>
                </a:extLst>
              </p:cNvPr>
              <p:cNvSpPr txBox="1"/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28D195A4-E146-685E-A204-C6E91E622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blipFill>
                <a:blip r:embed="rId14"/>
                <a:stretch>
                  <a:fillRect l="-39474" r="-789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CAA101D-AF99-40B5-AF51-1B89BC8FE4F7}"/>
                  </a:ext>
                </a:extLst>
              </p:cNvPr>
              <p:cNvSpPr txBox="1"/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CAA101D-AF99-40B5-AF51-1B89BC8FE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blipFill>
                <a:blip r:embed="rId15"/>
                <a:stretch>
                  <a:fillRect l="-35897" r="-769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600D594-E3E5-3C59-69DA-706FE1699391}"/>
                  </a:ext>
                </a:extLst>
              </p:cNvPr>
              <p:cNvSpPr txBox="1"/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600D594-E3E5-3C59-69DA-706FE169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blipFill>
                <a:blip r:embed="rId16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931DBCDC-31FB-F9BA-F78E-CEEB77FFB9B9}"/>
                  </a:ext>
                </a:extLst>
              </p:cNvPr>
              <p:cNvSpPr txBox="1"/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931DBCDC-31FB-F9BA-F78E-CEEB77FFB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blipFill>
                <a:blip r:embed="rId17"/>
                <a:stretch>
                  <a:fillRect l="-47368" r="-5263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14399779-B9D6-7424-5A0C-57C42645B683}"/>
                  </a:ext>
                </a:extLst>
              </p:cNvPr>
              <p:cNvSpPr txBox="1"/>
              <p:nvPr/>
            </p:nvSpPr>
            <p:spPr>
              <a:xfrm>
                <a:off x="7886217" y="892478"/>
                <a:ext cx="38349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14399779-B9D6-7424-5A0C-57C42645B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217" y="892478"/>
                <a:ext cx="383497" cy="257881"/>
              </a:xfrm>
              <a:prstGeom prst="rect">
                <a:avLst/>
              </a:prstGeom>
              <a:blipFill>
                <a:blip r:embed="rId18"/>
                <a:stretch>
                  <a:fillRect l="-25397" r="-7937" b="-39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EDA172A5-8138-D83C-83B5-A6E054246D01}"/>
                  </a:ext>
                </a:extLst>
              </p:cNvPr>
              <p:cNvSpPr txBox="1"/>
              <p:nvPr/>
            </p:nvSpPr>
            <p:spPr>
              <a:xfrm>
                <a:off x="6996654" y="820693"/>
                <a:ext cx="38493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EDA172A5-8138-D83C-83B5-A6E054246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654" y="820693"/>
                <a:ext cx="384937" cy="257881"/>
              </a:xfrm>
              <a:prstGeom prst="rect">
                <a:avLst/>
              </a:prstGeom>
              <a:blipFill>
                <a:blip r:embed="rId19"/>
                <a:stretch>
                  <a:fillRect l="-31746" r="-7937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0A58D66-E401-59CB-E3DA-475CD32824BD}"/>
                  </a:ext>
                </a:extLst>
              </p:cNvPr>
              <p:cNvSpPr txBox="1"/>
              <p:nvPr/>
            </p:nvSpPr>
            <p:spPr>
              <a:xfrm>
                <a:off x="7798168" y="634597"/>
                <a:ext cx="370863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0A58D66-E401-59CB-E3DA-475CD3282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168" y="634597"/>
                <a:ext cx="370863" cy="257881"/>
              </a:xfrm>
              <a:prstGeom prst="rect">
                <a:avLst/>
              </a:prstGeom>
              <a:blipFill>
                <a:blip r:embed="rId20"/>
                <a:stretch>
                  <a:fillRect l="-26230" r="-9836" b="-452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Bogen 67">
            <a:extLst>
              <a:ext uri="{FF2B5EF4-FFF2-40B4-BE49-F238E27FC236}">
                <a16:creationId xmlns:a16="http://schemas.microsoft.com/office/drawing/2014/main" id="{203EBFC0-0D9C-27C8-053A-6DD16AED6F20}"/>
              </a:ext>
            </a:extLst>
          </p:cNvPr>
          <p:cNvSpPr/>
          <p:nvPr/>
        </p:nvSpPr>
        <p:spPr>
          <a:xfrm rot="2701103">
            <a:off x="6413782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Bogen 68">
            <a:extLst>
              <a:ext uri="{FF2B5EF4-FFF2-40B4-BE49-F238E27FC236}">
                <a16:creationId xmlns:a16="http://schemas.microsoft.com/office/drawing/2014/main" id="{10BFE097-B59D-BD83-2D89-66454DA5B69B}"/>
              </a:ext>
            </a:extLst>
          </p:cNvPr>
          <p:cNvSpPr/>
          <p:nvPr/>
        </p:nvSpPr>
        <p:spPr>
          <a:xfrm rot="3185177">
            <a:off x="6738905" y="3879631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Bogen 69">
            <a:extLst>
              <a:ext uri="{FF2B5EF4-FFF2-40B4-BE49-F238E27FC236}">
                <a16:creationId xmlns:a16="http://schemas.microsoft.com/office/drawing/2014/main" id="{76973310-2F7C-6AB4-10DE-29A5569B36D6}"/>
              </a:ext>
            </a:extLst>
          </p:cNvPr>
          <p:cNvSpPr/>
          <p:nvPr/>
        </p:nvSpPr>
        <p:spPr>
          <a:xfrm rot="3185177">
            <a:off x="10761944" y="2962725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Bogen 70">
            <a:extLst>
              <a:ext uri="{FF2B5EF4-FFF2-40B4-BE49-F238E27FC236}">
                <a16:creationId xmlns:a16="http://schemas.microsoft.com/office/drawing/2014/main" id="{8E43FF7C-A77C-6C6E-C2B3-AA13DF917504}"/>
              </a:ext>
            </a:extLst>
          </p:cNvPr>
          <p:cNvSpPr/>
          <p:nvPr/>
        </p:nvSpPr>
        <p:spPr>
          <a:xfrm rot="809623">
            <a:off x="11183207" y="3871812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508FC80E-E28D-820A-393B-87BD2CD949FB}"/>
              </a:ext>
            </a:extLst>
          </p:cNvPr>
          <p:cNvSpPr/>
          <p:nvPr/>
        </p:nvSpPr>
        <p:spPr>
          <a:xfrm>
            <a:off x="7629131" y="1244166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D47A656F-0057-48B6-EF51-DE9E1083E2E8}"/>
              </a:ext>
            </a:extLst>
          </p:cNvPr>
          <p:cNvSpPr/>
          <p:nvPr/>
        </p:nvSpPr>
        <p:spPr>
          <a:xfrm>
            <a:off x="6828877" y="309045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0F30E96-FE71-B4D3-262D-E5396BC57F13}"/>
              </a:ext>
            </a:extLst>
          </p:cNvPr>
          <p:cNvSpPr/>
          <p:nvPr/>
        </p:nvSpPr>
        <p:spPr>
          <a:xfrm>
            <a:off x="6660298" y="400968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6CC4E3AB-7A49-4F5D-8909-DDDB82C3807C}"/>
              </a:ext>
            </a:extLst>
          </p:cNvPr>
          <p:cNvSpPr/>
          <p:nvPr/>
        </p:nvSpPr>
        <p:spPr>
          <a:xfrm>
            <a:off x="6353297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21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FAF949-89D2-D950-6F40-1D8CE2706474}"/>
                  </a:ext>
                </a:extLst>
              </p:cNvPr>
              <p:cNvSpPr txBox="1"/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FAF949-89D2-D950-6F40-1D8CE270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blipFill>
                <a:blip r:embed="rId22"/>
                <a:stretch>
                  <a:fillRect l="-43590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61772ED7-1B9F-EA64-06D4-AB9FBFD6BB2C}"/>
                  </a:ext>
                </a:extLst>
              </p:cNvPr>
              <p:cNvSpPr txBox="1"/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61772ED7-1B9F-EA64-06D4-AB9FBFD6B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blipFill>
                <a:blip r:embed="rId23"/>
                <a:stretch>
                  <a:fillRect l="-46154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7D06F109-E876-1C38-7599-13EB94E9B99B}"/>
                  </a:ext>
                </a:extLst>
              </p:cNvPr>
              <p:cNvSpPr txBox="1"/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7D06F109-E876-1C38-7599-13EB94E9B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blipFill>
                <a:blip r:embed="rId24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17CC7B4C-50A4-AA05-784F-F235BA6FAB9C}"/>
                  </a:ext>
                </a:extLst>
              </p:cNvPr>
              <p:cNvSpPr txBox="1"/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17CC7B4C-50A4-AA05-784F-F235BA6FA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blipFill>
                <a:blip r:embed="rId25"/>
                <a:stretch>
                  <a:fillRect l="-46154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6A880A9F-0D21-02A5-150B-4331C52F7EB9}"/>
              </a:ext>
            </a:extLst>
          </p:cNvPr>
          <p:cNvCxnSpPr>
            <a:cxnSpLocks/>
          </p:cNvCxnSpPr>
          <p:nvPr/>
        </p:nvCxnSpPr>
        <p:spPr>
          <a:xfrm>
            <a:off x="5995787" y="4868030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57B3B1EA-F996-2099-016F-37E642439411}"/>
                  </a:ext>
                </a:extLst>
              </p:cNvPr>
              <p:cNvSpPr txBox="1"/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57B3B1EA-F996-2099-016F-37E642439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blipFill>
                <a:blip r:embed="rId26"/>
                <a:stretch>
                  <a:fillRect l="-4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0918DAE3-7A47-55CF-3B68-5BBC358061DE}"/>
              </a:ext>
            </a:extLst>
          </p:cNvPr>
          <p:cNvCxnSpPr>
            <a:cxnSpLocks/>
          </p:cNvCxnSpPr>
          <p:nvPr/>
        </p:nvCxnSpPr>
        <p:spPr>
          <a:xfrm flipH="1">
            <a:off x="5995787" y="3935287"/>
            <a:ext cx="295276" cy="825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B46DD7C9-F97C-E075-0A41-B48A0C874789}"/>
                  </a:ext>
                </a:extLst>
              </p:cNvPr>
              <p:cNvSpPr txBox="1"/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B46DD7C9-F97C-E075-0A41-B48A0C87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blipFill>
                <a:blip r:embed="rId27"/>
                <a:stretch>
                  <a:fillRect l="-35000" r="-7500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9D3D83E9-606D-F91B-6D9B-8B7EDE583514}"/>
              </a:ext>
            </a:extLst>
          </p:cNvPr>
          <p:cNvCxnSpPr>
            <a:cxnSpLocks/>
          </p:cNvCxnSpPr>
          <p:nvPr/>
        </p:nvCxnSpPr>
        <p:spPr>
          <a:xfrm flipH="1">
            <a:off x="6293016" y="3034342"/>
            <a:ext cx="161425" cy="8954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865EE09F-09FE-D7E5-FE5D-825616328B44}"/>
                  </a:ext>
                </a:extLst>
              </p:cNvPr>
              <p:cNvSpPr txBox="1"/>
              <p:nvPr/>
            </p:nvSpPr>
            <p:spPr>
              <a:xfrm>
                <a:off x="6147242" y="3255842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865EE09F-09FE-D7E5-FE5D-82561632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242" y="3255842"/>
                <a:ext cx="243751" cy="239373"/>
              </a:xfrm>
              <a:prstGeom prst="rect">
                <a:avLst/>
              </a:prstGeom>
              <a:blipFill>
                <a:blip r:embed="rId28"/>
                <a:stretch>
                  <a:fillRect l="-35000" r="-7500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D3ACD1C6-7378-E091-B285-88294C833CFE}"/>
              </a:ext>
            </a:extLst>
          </p:cNvPr>
          <p:cNvCxnSpPr>
            <a:cxnSpLocks/>
          </p:cNvCxnSpPr>
          <p:nvPr/>
        </p:nvCxnSpPr>
        <p:spPr>
          <a:xfrm flipH="1" flipV="1">
            <a:off x="9301841" y="4223757"/>
            <a:ext cx="1937245" cy="329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2D5A2D2D-D5F6-8BF9-749B-090DC1283505}"/>
                  </a:ext>
                </a:extLst>
              </p:cNvPr>
              <p:cNvSpPr txBox="1"/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2D5A2D2D-D5F6-8BF9-749B-090DC128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blipFill>
                <a:blip r:embed="rId29"/>
                <a:stretch>
                  <a:fillRect l="-35000" r="-5000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8B4B42BE-668A-8AB2-7FE8-A0B7F58203D4}"/>
              </a:ext>
            </a:extLst>
          </p:cNvPr>
          <p:cNvCxnSpPr>
            <a:cxnSpLocks/>
          </p:cNvCxnSpPr>
          <p:nvPr/>
        </p:nvCxnSpPr>
        <p:spPr>
          <a:xfrm flipH="1">
            <a:off x="9259197" y="2978821"/>
            <a:ext cx="1310715" cy="9615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420ACB46-55D4-7561-D63D-1CC593D4137C}"/>
                  </a:ext>
                </a:extLst>
              </p:cNvPr>
              <p:cNvSpPr txBox="1"/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420ACB46-55D4-7561-D63D-1CC593D4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blipFill>
                <a:blip r:embed="rId30"/>
                <a:stretch>
                  <a:fillRect l="-43902" r="-7317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853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8F8C7-4368-6E1A-9B59-7BE25BC4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677D6B-9A43-487C-A010-F1BE6B5F3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9DAE48-A056-F3AA-FB8B-2274DEF173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</a:t>
            </a:r>
            <a:r>
              <a:rPr lang="de-DE" dirty="0" err="1"/>
              <a:t>frames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091946-958D-E4B1-7E3A-DCC16BF4E5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forward</a:t>
            </a:r>
            <a:r>
              <a:rPr lang="de-DE" dirty="0"/>
              <a:t> </a:t>
            </a:r>
            <a:r>
              <a:rPr lang="de-DE" dirty="0" err="1"/>
              <a:t>kinematics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276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kinematics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551" y="3509237"/>
                <a:ext cx="5617630" cy="246279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𝑇𝑟𝑎𝑛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𝑇𝑟𝑎𝑛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br>
                  <a:rPr lang="de-DE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𝑡𝑐𝑝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𝑐𝑝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𝑡𝑐𝑝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CD7FEA-0F21-79FD-0B30-A6E8E9CC6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551" y="3509237"/>
                <a:ext cx="5617630" cy="2462794"/>
              </a:xfrm>
              <a:blipFill>
                <a:blip r:embed="rId2"/>
                <a:stretch>
                  <a:fillRect l="-1737" b="-126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8698092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8583640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7502107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7715359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8116990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8116990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7883664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510F4DE-43C8-AD3B-01EF-EB1D46C05939}"/>
              </a:ext>
            </a:extLst>
          </p:cNvPr>
          <p:cNvCxnSpPr>
            <a:cxnSpLocks/>
          </p:cNvCxnSpPr>
          <p:nvPr/>
        </p:nvCxnSpPr>
        <p:spPr>
          <a:xfrm flipV="1">
            <a:off x="8112599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BE6A6DF-A1AB-0B5D-A1E5-06E0FA7D77CE}"/>
              </a:ext>
            </a:extLst>
          </p:cNvPr>
          <p:cNvCxnSpPr/>
          <p:nvPr/>
        </p:nvCxnSpPr>
        <p:spPr>
          <a:xfrm>
            <a:off x="8116990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A8A6375-8A7A-B155-89AF-B7236841ACA3}"/>
              </a:ext>
            </a:extLst>
          </p:cNvPr>
          <p:cNvCxnSpPr>
            <a:cxnSpLocks/>
          </p:cNvCxnSpPr>
          <p:nvPr/>
        </p:nvCxnSpPr>
        <p:spPr>
          <a:xfrm flipV="1">
            <a:off x="8116990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7921885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8229355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8667722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8677474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9288370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7871617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617" y="6033226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35897" r="-769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8601317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317" y="5725833"/>
                <a:ext cx="237656" cy="239373"/>
              </a:xfrm>
              <a:prstGeom prst="rect">
                <a:avLst/>
              </a:prstGeom>
              <a:blipFill>
                <a:blip r:embed="rId4"/>
                <a:stretch>
                  <a:fillRect l="-46154" r="-5128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7904872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872" y="5194180"/>
                <a:ext cx="225022" cy="239373"/>
              </a:xfrm>
              <a:prstGeom prst="rect">
                <a:avLst/>
              </a:prstGeom>
              <a:blipFill>
                <a:blip r:embed="rId5"/>
                <a:stretch>
                  <a:fillRect l="-37838" r="-2703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F407044-8A06-E8D2-7208-4EA29909DB81}"/>
                  </a:ext>
                </a:extLst>
              </p:cNvPr>
              <p:cNvSpPr txBox="1"/>
              <p:nvPr/>
            </p:nvSpPr>
            <p:spPr>
              <a:xfrm>
                <a:off x="8178696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F407044-8A06-E8D2-7208-4EA29909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696" y="5119802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46154" r="-2564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8EC2A5F6-B391-DF2F-79C6-614A16C4A5A7}"/>
                  </a:ext>
                </a:extLst>
              </p:cNvPr>
              <p:cNvSpPr txBox="1"/>
              <p:nvPr/>
            </p:nvSpPr>
            <p:spPr>
              <a:xfrm>
                <a:off x="8601317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8EC2A5F6-B391-DF2F-79C6-614A16C4A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317" y="4798669"/>
                <a:ext cx="237656" cy="239373"/>
              </a:xfrm>
              <a:prstGeom prst="rect">
                <a:avLst/>
              </a:prstGeom>
              <a:blipFill>
                <a:blip r:embed="rId7"/>
                <a:stretch>
                  <a:fillRect l="-35897" r="-2564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426933D-F7D5-2382-9680-13DA18F1263B}"/>
                  </a:ext>
                </a:extLst>
              </p:cNvPr>
              <p:cNvSpPr txBox="1"/>
              <p:nvPr/>
            </p:nvSpPr>
            <p:spPr>
              <a:xfrm>
                <a:off x="8333632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426933D-F7D5-2382-9680-13DA18F12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632" y="4345625"/>
                <a:ext cx="225022" cy="239373"/>
              </a:xfrm>
              <a:prstGeom prst="rect">
                <a:avLst/>
              </a:prstGeom>
              <a:blipFill>
                <a:blip r:embed="rId8"/>
                <a:stretch>
                  <a:fillRect l="-3783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6A4DAB5-381A-145B-F645-04CCD40E4AA2}"/>
              </a:ext>
            </a:extLst>
          </p:cNvPr>
          <p:cNvCxnSpPr>
            <a:cxnSpLocks/>
          </p:cNvCxnSpPr>
          <p:nvPr/>
        </p:nvCxnSpPr>
        <p:spPr>
          <a:xfrm rot="1200000" flipV="1">
            <a:off x="8496739" y="3604337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F868E45D-3789-943E-E1F6-66307FB9AE34}"/>
              </a:ext>
            </a:extLst>
          </p:cNvPr>
          <p:cNvCxnSpPr>
            <a:cxnSpLocks/>
          </p:cNvCxnSpPr>
          <p:nvPr/>
        </p:nvCxnSpPr>
        <p:spPr>
          <a:xfrm rot="1200000">
            <a:off x="8398016" y="413070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ECDB2CA1-A2A3-D9F3-40A1-0AF21A27C508}"/>
              </a:ext>
            </a:extLst>
          </p:cNvPr>
          <p:cNvCxnSpPr>
            <a:cxnSpLocks/>
          </p:cNvCxnSpPr>
          <p:nvPr/>
        </p:nvCxnSpPr>
        <p:spPr>
          <a:xfrm rot="1200000" flipV="1">
            <a:off x="8444953" y="3864511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65E1599-AC26-F696-096C-D08613977F88}"/>
              </a:ext>
            </a:extLst>
          </p:cNvPr>
          <p:cNvCxnSpPr>
            <a:cxnSpLocks/>
          </p:cNvCxnSpPr>
          <p:nvPr/>
        </p:nvCxnSpPr>
        <p:spPr>
          <a:xfrm rot="600000" flipV="1">
            <a:off x="8618228" y="2667553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A4D9689-14F1-A8A3-F423-68D711388565}"/>
              </a:ext>
            </a:extLst>
          </p:cNvPr>
          <p:cNvCxnSpPr>
            <a:cxnSpLocks/>
          </p:cNvCxnSpPr>
          <p:nvPr/>
        </p:nvCxnSpPr>
        <p:spPr>
          <a:xfrm rot="600000">
            <a:off x="8574099" y="3171176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6E6143E-CA14-03AE-71B1-E64EA3559FAA}"/>
              </a:ext>
            </a:extLst>
          </p:cNvPr>
          <p:cNvCxnSpPr>
            <a:cxnSpLocks/>
          </p:cNvCxnSpPr>
          <p:nvPr/>
        </p:nvCxnSpPr>
        <p:spPr>
          <a:xfrm rot="600000" flipV="1">
            <a:off x="8596128" y="2919364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E581648E-AD98-8A32-F8AF-26E3AB1205A5}"/>
              </a:ext>
            </a:extLst>
          </p:cNvPr>
          <p:cNvCxnSpPr>
            <a:cxnSpLocks/>
          </p:cNvCxnSpPr>
          <p:nvPr/>
        </p:nvCxnSpPr>
        <p:spPr>
          <a:xfrm rot="600000" flipV="1">
            <a:off x="8618229" y="2667554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00D86DC-68EA-275B-171C-BB2DDC850F67}"/>
              </a:ext>
            </a:extLst>
          </p:cNvPr>
          <p:cNvCxnSpPr>
            <a:cxnSpLocks/>
          </p:cNvCxnSpPr>
          <p:nvPr/>
        </p:nvCxnSpPr>
        <p:spPr>
          <a:xfrm rot="600000">
            <a:off x="8574100" y="3171176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C0351909-7EDE-2A3B-5287-1E1DAC4FFEFE}"/>
              </a:ext>
            </a:extLst>
          </p:cNvPr>
          <p:cNvCxnSpPr>
            <a:cxnSpLocks/>
          </p:cNvCxnSpPr>
          <p:nvPr/>
        </p:nvCxnSpPr>
        <p:spPr>
          <a:xfrm rot="600000" flipV="1">
            <a:off x="8593313" y="2919859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00525791-5406-2ABA-FB74-36DC5121B4B4}"/>
                  </a:ext>
                </a:extLst>
              </p:cNvPr>
              <p:cNvSpPr txBox="1"/>
              <p:nvPr/>
            </p:nvSpPr>
            <p:spPr>
              <a:xfrm>
                <a:off x="8829899" y="413325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00525791-5406-2ABA-FB74-36DC5121B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899" y="4133250"/>
                <a:ext cx="237656" cy="239373"/>
              </a:xfrm>
              <a:prstGeom prst="rect">
                <a:avLst/>
              </a:prstGeom>
              <a:blipFill>
                <a:blip r:embed="rId9"/>
                <a:stretch>
                  <a:fillRect l="-46154" r="-7692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1C4FE72-37BE-F91C-D642-BB7748EB6BAD}"/>
                  </a:ext>
                </a:extLst>
              </p:cNvPr>
              <p:cNvSpPr txBox="1"/>
              <p:nvPr/>
            </p:nvSpPr>
            <p:spPr>
              <a:xfrm>
                <a:off x="8335989" y="336932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1C4FE72-37BE-F91C-D642-BB7748EB6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989" y="3369322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35897" r="-769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61F26E2F-FB3B-1C6A-9259-C2B0C8DA82FC}"/>
                  </a:ext>
                </a:extLst>
              </p:cNvPr>
              <p:cNvSpPr txBox="1"/>
              <p:nvPr/>
            </p:nvSpPr>
            <p:spPr>
              <a:xfrm>
                <a:off x="8735237" y="366318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61F26E2F-FB3B-1C6A-9259-C2B0C8DA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237" y="3663186"/>
                <a:ext cx="225022" cy="239373"/>
              </a:xfrm>
              <a:prstGeom prst="rect">
                <a:avLst/>
              </a:prstGeom>
              <a:blipFill>
                <a:blip r:embed="rId11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7954577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Bogen 67">
            <a:extLst>
              <a:ext uri="{FF2B5EF4-FFF2-40B4-BE49-F238E27FC236}">
                <a16:creationId xmlns:a16="http://schemas.microsoft.com/office/drawing/2014/main" id="{203EBFC0-0D9C-27C8-053A-6DD16AED6F20}"/>
              </a:ext>
            </a:extLst>
          </p:cNvPr>
          <p:cNvSpPr/>
          <p:nvPr/>
        </p:nvSpPr>
        <p:spPr>
          <a:xfrm rot="2701103">
            <a:off x="8141974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Bogen 68">
            <a:extLst>
              <a:ext uri="{FF2B5EF4-FFF2-40B4-BE49-F238E27FC236}">
                <a16:creationId xmlns:a16="http://schemas.microsoft.com/office/drawing/2014/main" id="{10BFE097-B59D-BD83-2D89-66454DA5B69B}"/>
              </a:ext>
            </a:extLst>
          </p:cNvPr>
          <p:cNvSpPr/>
          <p:nvPr/>
        </p:nvSpPr>
        <p:spPr>
          <a:xfrm rot="3185177">
            <a:off x="8467097" y="3879631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D47A656F-0057-48B6-EF51-DE9E1083E2E8}"/>
              </a:ext>
            </a:extLst>
          </p:cNvPr>
          <p:cNvSpPr/>
          <p:nvPr/>
        </p:nvSpPr>
        <p:spPr>
          <a:xfrm>
            <a:off x="8557069" y="309045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0F30E96-FE71-B4D3-262D-E5396BC57F13}"/>
              </a:ext>
            </a:extLst>
          </p:cNvPr>
          <p:cNvSpPr/>
          <p:nvPr/>
        </p:nvSpPr>
        <p:spPr>
          <a:xfrm>
            <a:off x="8388490" y="400968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6CC4E3AB-7A49-4F5D-8909-DDDB82C3807C}"/>
              </a:ext>
            </a:extLst>
          </p:cNvPr>
          <p:cNvSpPr/>
          <p:nvPr/>
        </p:nvSpPr>
        <p:spPr>
          <a:xfrm>
            <a:off x="8081489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8085879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8310749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749" y="5418951"/>
                <a:ext cx="237656" cy="239373"/>
              </a:xfrm>
              <a:prstGeom prst="rect">
                <a:avLst/>
              </a:prstGeom>
              <a:blipFill>
                <a:blip r:embed="rId15"/>
                <a:stretch>
                  <a:fillRect l="-43590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FAF949-89D2-D950-6F40-1D8CE2706474}"/>
                  </a:ext>
                </a:extLst>
              </p:cNvPr>
              <p:cNvSpPr txBox="1"/>
              <p:nvPr/>
            </p:nvSpPr>
            <p:spPr>
              <a:xfrm>
                <a:off x="8484481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FAF949-89D2-D950-6F40-1D8CE270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481" y="4544103"/>
                <a:ext cx="237656" cy="239373"/>
              </a:xfrm>
              <a:prstGeom prst="rect">
                <a:avLst/>
              </a:prstGeom>
              <a:blipFill>
                <a:blip r:embed="rId16"/>
                <a:stretch>
                  <a:fillRect l="-46154" r="-5128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61772ED7-1B9F-EA64-06D4-AB9FBFD6BB2C}"/>
                  </a:ext>
                </a:extLst>
              </p:cNvPr>
              <p:cNvSpPr txBox="1"/>
              <p:nvPr/>
            </p:nvSpPr>
            <p:spPr>
              <a:xfrm>
                <a:off x="8791523" y="3882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61772ED7-1B9F-EA64-06D4-AB9FBFD6B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523" y="3882443"/>
                <a:ext cx="237656" cy="239373"/>
              </a:xfrm>
              <a:prstGeom prst="rect">
                <a:avLst/>
              </a:prstGeom>
              <a:blipFill>
                <a:blip r:embed="rId17"/>
                <a:stretch>
                  <a:fillRect l="-43590" r="-769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050F37CE-7836-916D-796A-91E78558D5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5846910"/>
                  </p:ext>
                </p:extLst>
              </p:nvPr>
            </p:nvGraphicFramePr>
            <p:xfrm>
              <a:off x="497551" y="770902"/>
              <a:ext cx="4734353" cy="28586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2080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de-DE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de-DE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de-DE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𝒓𝒂𝒅</m:t>
                              </m:r>
                              <m:r>
                                <a:rPr lang="de-DE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de-DE" sz="16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𝒓𝒂𝒅</m:t>
                                </m:r>
                                <m:r>
                                  <a:rPr lang="de-DE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482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0.0563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2080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−1.435+</m:t>
                                </m:r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0.109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2080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−0.029+</m:t>
                                </m:r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0.101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482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−0.001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2080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482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0.007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0.114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02981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050F37CE-7836-916D-796A-91E78558D5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5846910"/>
                  </p:ext>
                </p:extLst>
              </p:nvPr>
            </p:nvGraphicFramePr>
            <p:xfrm>
              <a:off x="497551" y="770902"/>
              <a:ext cx="4734353" cy="28586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1493" t="-1818" r="-1067164" b="-7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28571" t="-1818" r="-200420" b="-7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185455" t="-1818" r="-189091" b="-7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31690" t="-1818" r="-119718" b="-7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69277" t="-1818" r="-2410" b="-7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05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28571" t="-67470" r="-200420" b="-4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185455" t="-67470" r="-189091" b="-4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31690" t="-67470" r="-119718" b="-4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69277" t="-67470" r="-2410" b="-403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28571" t="-252727" r="-200420" b="-5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185455" t="-252727" r="-189091" b="-5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31690" t="-252727" r="-119718" b="-5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69277" t="-252727" r="-2410" b="-5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28571" t="-346429" r="-2004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185455" t="-346429" r="-189091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31690" t="-346429" r="-11971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69277" t="-346429" r="-2410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05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28571" t="-301205" r="-200420" b="-1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185455" t="-301205" r="-189091" b="-1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31690" t="-301205" r="-119718" b="-1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69277" t="-301205" r="-2410" b="-1698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28571" t="-605455" r="-200420" b="-15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185455" t="-605455" r="-189091" b="-15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31690" t="-605455" r="-119718" b="-15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69277" t="-605455" r="-2410" b="-15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505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sz="16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28571" t="-467470" r="-200420" b="-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185455" t="-467470" r="-189091" b="-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31690" t="-467470" r="-119718" b="-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8"/>
                          <a:stretch>
                            <a:fillRect l="-369277" t="-467470" r="-2410" b="-3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029810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7B3EE346-7646-E225-7C42-B75D70BE0AA4}"/>
              </a:ext>
            </a:extLst>
          </p:cNvPr>
          <p:cNvCxnSpPr>
            <a:cxnSpLocks/>
          </p:cNvCxnSpPr>
          <p:nvPr/>
        </p:nvCxnSpPr>
        <p:spPr>
          <a:xfrm rot="600000" flipV="1">
            <a:off x="9433971" y="78939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4C2EA98-A5E5-43F8-8A45-2293C58E3534}"/>
              </a:ext>
            </a:extLst>
          </p:cNvPr>
          <p:cNvCxnSpPr>
            <a:cxnSpLocks/>
          </p:cNvCxnSpPr>
          <p:nvPr/>
        </p:nvCxnSpPr>
        <p:spPr>
          <a:xfrm flipV="1">
            <a:off x="9393387" y="1055174"/>
            <a:ext cx="168290" cy="197323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2E2ADB2-E866-9B33-B942-06AC77BF6CAE}"/>
              </a:ext>
            </a:extLst>
          </p:cNvPr>
          <p:cNvCxnSpPr>
            <a:cxnSpLocks/>
          </p:cNvCxnSpPr>
          <p:nvPr/>
        </p:nvCxnSpPr>
        <p:spPr>
          <a:xfrm flipH="1" flipV="1">
            <a:off x="8985613" y="1140078"/>
            <a:ext cx="407772" cy="112418"/>
          </a:xfrm>
          <a:prstGeom prst="straightConnector1">
            <a:avLst/>
          </a:prstGeom>
          <a:ln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D8AFDC0-4308-336E-8ABE-3E85E13CE661}"/>
                  </a:ext>
                </a:extLst>
              </p:cNvPr>
              <p:cNvSpPr txBox="1"/>
              <p:nvPr/>
            </p:nvSpPr>
            <p:spPr>
              <a:xfrm>
                <a:off x="9623702" y="865535"/>
                <a:ext cx="38349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D8AFDC0-4308-336E-8ABE-3E85E13CE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702" y="865535"/>
                <a:ext cx="383497" cy="257881"/>
              </a:xfrm>
              <a:prstGeom prst="rect">
                <a:avLst/>
              </a:prstGeom>
              <a:blipFill>
                <a:blip r:embed="rId19"/>
                <a:stretch>
                  <a:fillRect l="-25397" r="-7937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7DA0BA4-A128-CB71-3715-C81FD7DA0990}"/>
                  </a:ext>
                </a:extLst>
              </p:cNvPr>
              <p:cNvSpPr txBox="1"/>
              <p:nvPr/>
            </p:nvSpPr>
            <p:spPr>
              <a:xfrm>
                <a:off x="8734139" y="793750"/>
                <a:ext cx="38493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7DA0BA4-A128-CB71-3715-C81FD7DA0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139" y="793750"/>
                <a:ext cx="384937" cy="257881"/>
              </a:xfrm>
              <a:prstGeom prst="rect">
                <a:avLst/>
              </a:prstGeom>
              <a:blipFill>
                <a:blip r:embed="rId20"/>
                <a:stretch>
                  <a:fillRect l="-31746" r="-7937" b="-39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5B439CB-3897-714D-600D-50C8F8A1E841}"/>
                  </a:ext>
                </a:extLst>
              </p:cNvPr>
              <p:cNvSpPr txBox="1"/>
              <p:nvPr/>
            </p:nvSpPr>
            <p:spPr>
              <a:xfrm>
                <a:off x="9535653" y="607654"/>
                <a:ext cx="370863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5B439CB-3897-714D-600D-50C8F8A1E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653" y="607654"/>
                <a:ext cx="370863" cy="257881"/>
              </a:xfrm>
              <a:prstGeom prst="rect">
                <a:avLst/>
              </a:prstGeom>
              <a:blipFill>
                <a:blip r:embed="rId21"/>
                <a:stretch>
                  <a:fillRect l="-26230" r="-6557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lipse 12">
            <a:extLst>
              <a:ext uri="{FF2B5EF4-FFF2-40B4-BE49-F238E27FC236}">
                <a16:creationId xmlns:a16="http://schemas.microsoft.com/office/drawing/2014/main" id="{605C0811-7C16-48BF-88BA-6470D368F3FB}"/>
              </a:ext>
            </a:extLst>
          </p:cNvPr>
          <p:cNvSpPr/>
          <p:nvPr/>
        </p:nvSpPr>
        <p:spPr>
          <a:xfrm>
            <a:off x="9366616" y="1217223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938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Frames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CD7FEA-0F21-79FD-0B30-A6E8E9CC6B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6969900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82DD407-D87B-E149-6CFF-B132DF9EE7CD}"/>
              </a:ext>
            </a:extLst>
          </p:cNvPr>
          <p:cNvSpPr/>
          <p:nvPr/>
        </p:nvSpPr>
        <p:spPr>
          <a:xfrm rot="16831541">
            <a:off x="11043672" y="3267553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FB14C8D-DDB2-4482-18E4-14DFBE2E01F6}"/>
              </a:ext>
            </a:extLst>
          </p:cNvPr>
          <p:cNvSpPr/>
          <p:nvPr/>
        </p:nvSpPr>
        <p:spPr>
          <a:xfrm>
            <a:off x="11268353" y="3552744"/>
            <a:ext cx="258213" cy="2582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396A9A1-27A7-DED8-88B6-A94803EA6706}"/>
              </a:ext>
            </a:extLst>
          </p:cNvPr>
          <p:cNvSpPr/>
          <p:nvPr/>
        </p:nvSpPr>
        <p:spPr>
          <a:xfrm rot="19386561">
            <a:off x="9341636" y="3489760"/>
            <a:ext cx="1650286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9F1B8E4-75B3-361B-0D80-C9E392F14459}"/>
              </a:ext>
            </a:extLst>
          </p:cNvPr>
          <p:cNvSpPr/>
          <p:nvPr/>
        </p:nvSpPr>
        <p:spPr>
          <a:xfrm rot="16831541">
            <a:off x="10926445" y="3918950"/>
            <a:ext cx="795160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8CD801A-A63D-967D-FC50-5F25C5DE68F7}"/>
              </a:ext>
            </a:extLst>
          </p:cNvPr>
          <p:cNvSpPr/>
          <p:nvPr/>
        </p:nvSpPr>
        <p:spPr>
          <a:xfrm rot="563368">
            <a:off x="9474191" y="4053909"/>
            <a:ext cx="19273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3" name="Bogen 12">
            <a:extLst>
              <a:ext uri="{FF2B5EF4-FFF2-40B4-BE49-F238E27FC236}">
                <a16:creationId xmlns:a16="http://schemas.microsoft.com/office/drawing/2014/main" id="{4A21AE47-DF71-9D69-4666-4DC909346E6D}"/>
              </a:ext>
            </a:extLst>
          </p:cNvPr>
          <p:cNvSpPr/>
          <p:nvPr/>
        </p:nvSpPr>
        <p:spPr>
          <a:xfrm rot="406834">
            <a:off x="11280270" y="3550411"/>
            <a:ext cx="236436" cy="236436"/>
          </a:xfrm>
          <a:prstGeom prst="arc">
            <a:avLst>
              <a:gd name="adj1" fmla="val 11391794"/>
              <a:gd name="adj2" fmla="val 0"/>
            </a:avLst>
          </a:prstGeom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510F4DE-43C8-AD3B-01EF-EB1D46C05939}"/>
              </a:ext>
            </a:extLst>
          </p:cNvPr>
          <p:cNvCxnSpPr>
            <a:cxnSpLocks/>
          </p:cNvCxnSpPr>
          <p:nvPr/>
        </p:nvCxnSpPr>
        <p:spPr>
          <a:xfrm flipV="1">
            <a:off x="6384407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BE6A6DF-A1AB-0B5D-A1E5-06E0FA7D77CE}"/>
              </a:ext>
            </a:extLst>
          </p:cNvPr>
          <p:cNvCxnSpPr/>
          <p:nvPr/>
        </p:nvCxnSpPr>
        <p:spPr>
          <a:xfrm>
            <a:off x="6388798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A8A6375-8A7A-B155-89AF-B7236841ACA3}"/>
              </a:ext>
            </a:extLst>
          </p:cNvPr>
          <p:cNvCxnSpPr>
            <a:cxnSpLocks/>
          </p:cNvCxnSpPr>
          <p:nvPr/>
        </p:nvCxnSpPr>
        <p:spPr>
          <a:xfrm flipV="1">
            <a:off x="6388798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4DFA1DC-EEB1-9E39-C06D-C827EB967CE9}"/>
              </a:ext>
            </a:extLst>
          </p:cNvPr>
          <p:cNvCxnSpPr>
            <a:cxnSpLocks/>
          </p:cNvCxnSpPr>
          <p:nvPr/>
        </p:nvCxnSpPr>
        <p:spPr>
          <a:xfrm rot="600000" flipV="1">
            <a:off x="10750376" y="2723321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54F7C84-EE5A-3A1B-5C17-07B52EFC385E}"/>
              </a:ext>
            </a:extLst>
          </p:cNvPr>
          <p:cNvCxnSpPr>
            <a:cxnSpLocks/>
          </p:cNvCxnSpPr>
          <p:nvPr/>
        </p:nvCxnSpPr>
        <p:spPr>
          <a:xfrm rot="600000">
            <a:off x="10706246" y="322694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76AF48E-5E9C-BBA4-FFED-1F7C108FFB3D}"/>
              </a:ext>
            </a:extLst>
          </p:cNvPr>
          <p:cNvCxnSpPr>
            <a:cxnSpLocks/>
          </p:cNvCxnSpPr>
          <p:nvPr/>
        </p:nvCxnSpPr>
        <p:spPr>
          <a:xfrm rot="600000" flipV="1">
            <a:off x="10728276" y="2975132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29EA725-83A0-064F-77C4-B5BF9D009FC9}"/>
              </a:ext>
            </a:extLst>
          </p:cNvPr>
          <p:cNvCxnSpPr>
            <a:cxnSpLocks/>
          </p:cNvCxnSpPr>
          <p:nvPr/>
        </p:nvCxnSpPr>
        <p:spPr>
          <a:xfrm rot="600000" flipV="1">
            <a:off x="11312235" y="3845295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8C94239-11D0-B885-8546-2CAEC3C2F587}"/>
              </a:ext>
            </a:extLst>
          </p:cNvPr>
          <p:cNvCxnSpPr>
            <a:cxnSpLocks/>
          </p:cNvCxnSpPr>
          <p:nvPr/>
        </p:nvCxnSpPr>
        <p:spPr>
          <a:xfrm rot="600000">
            <a:off x="11268105" y="4348918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AABCEB4F-A130-F82F-60AA-C25C4CE2D696}"/>
              </a:ext>
            </a:extLst>
          </p:cNvPr>
          <p:cNvCxnSpPr>
            <a:cxnSpLocks/>
          </p:cNvCxnSpPr>
          <p:nvPr/>
        </p:nvCxnSpPr>
        <p:spPr>
          <a:xfrm rot="600000" flipV="1">
            <a:off x="11290135" y="4097107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6939530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6949282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7560178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4F1036C-6FDA-F527-ADF8-BF8862B214C7}"/>
              </a:ext>
            </a:extLst>
          </p:cNvPr>
          <p:cNvCxnSpPr>
            <a:cxnSpLocks/>
          </p:cNvCxnSpPr>
          <p:nvPr/>
        </p:nvCxnSpPr>
        <p:spPr>
          <a:xfrm rot="600000" flipV="1">
            <a:off x="7696486" y="816333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C82F31D-02C3-FA9E-070B-2AEAB597FBBA}"/>
              </a:ext>
            </a:extLst>
          </p:cNvPr>
          <p:cNvCxnSpPr>
            <a:cxnSpLocks/>
          </p:cNvCxnSpPr>
          <p:nvPr/>
        </p:nvCxnSpPr>
        <p:spPr>
          <a:xfrm rot="600000">
            <a:off x="7652357" y="1319956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488F57D-7DE1-1A0A-950C-6B4F6C5347F5}"/>
              </a:ext>
            </a:extLst>
          </p:cNvPr>
          <p:cNvCxnSpPr>
            <a:cxnSpLocks/>
          </p:cNvCxnSpPr>
          <p:nvPr/>
        </p:nvCxnSpPr>
        <p:spPr>
          <a:xfrm rot="600000" flipV="1">
            <a:off x="7674386" y="1068145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4D0ACBC0-3425-FA6D-9749-5837FE85B5B4}"/>
              </a:ext>
            </a:extLst>
          </p:cNvPr>
          <p:cNvSpPr/>
          <p:nvPr/>
        </p:nvSpPr>
        <p:spPr>
          <a:xfrm>
            <a:off x="9159629" y="2275370"/>
            <a:ext cx="2955452" cy="295545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BCCC02D-F397-F01E-C901-6668467F87F0}"/>
              </a:ext>
            </a:extLst>
          </p:cNvPr>
          <p:cNvSpPr/>
          <p:nvPr/>
        </p:nvSpPr>
        <p:spPr>
          <a:xfrm>
            <a:off x="6489536" y="2601453"/>
            <a:ext cx="933301" cy="93330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313A6D75-57AE-022F-8AA3-7A37B2C790CA}"/>
              </a:ext>
            </a:extLst>
          </p:cNvPr>
          <p:cNvCxnSpPr>
            <a:cxnSpLocks/>
            <a:stCxn id="37" idx="0"/>
            <a:endCxn id="36" idx="0"/>
          </p:cNvCxnSpPr>
          <p:nvPr/>
        </p:nvCxnSpPr>
        <p:spPr>
          <a:xfrm flipV="1">
            <a:off x="6956186" y="2275370"/>
            <a:ext cx="3681169" cy="326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7D433576-A0CB-D99F-ED61-3835EEE29E54}"/>
              </a:ext>
            </a:extLst>
          </p:cNvPr>
          <p:cNvCxnSpPr>
            <a:cxnSpLocks/>
          </p:cNvCxnSpPr>
          <p:nvPr/>
        </p:nvCxnSpPr>
        <p:spPr>
          <a:xfrm flipH="1" flipV="1">
            <a:off x="6809523" y="3527023"/>
            <a:ext cx="3197008" cy="15631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2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4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F407044-8A06-E8D2-7208-4EA29909DB81}"/>
                  </a:ext>
                </a:extLst>
              </p:cNvPr>
              <p:cNvSpPr txBox="1"/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F407044-8A06-E8D2-7208-4EA29909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blipFill>
                <a:blip r:embed="rId5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8EC2A5F6-B391-DF2F-79C6-614A16C4A5A7}"/>
                  </a:ext>
                </a:extLst>
              </p:cNvPr>
              <p:cNvSpPr txBox="1"/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8EC2A5F6-B391-DF2F-79C6-614A16C4A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35897" r="-5128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426933D-F7D5-2382-9680-13DA18F1263B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426933D-F7D5-2382-9680-13DA18F12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7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6A4DAB5-381A-145B-F645-04CCD40E4AA2}"/>
              </a:ext>
            </a:extLst>
          </p:cNvPr>
          <p:cNvCxnSpPr>
            <a:cxnSpLocks/>
          </p:cNvCxnSpPr>
          <p:nvPr/>
        </p:nvCxnSpPr>
        <p:spPr>
          <a:xfrm rot="1200000" flipV="1">
            <a:off x="6768547" y="3604337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F868E45D-3789-943E-E1F6-66307FB9AE34}"/>
              </a:ext>
            </a:extLst>
          </p:cNvPr>
          <p:cNvCxnSpPr>
            <a:cxnSpLocks/>
          </p:cNvCxnSpPr>
          <p:nvPr/>
        </p:nvCxnSpPr>
        <p:spPr>
          <a:xfrm rot="1200000">
            <a:off x="6669824" y="413070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ECDB2CA1-A2A3-D9F3-40A1-0AF21A27C508}"/>
              </a:ext>
            </a:extLst>
          </p:cNvPr>
          <p:cNvCxnSpPr>
            <a:cxnSpLocks/>
          </p:cNvCxnSpPr>
          <p:nvPr/>
        </p:nvCxnSpPr>
        <p:spPr>
          <a:xfrm rot="1200000" flipV="1">
            <a:off x="6716761" y="3864511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65E1599-AC26-F696-096C-D08613977F88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6" y="2667553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A4D9689-14F1-A8A3-F423-68D711388565}"/>
              </a:ext>
            </a:extLst>
          </p:cNvPr>
          <p:cNvCxnSpPr>
            <a:cxnSpLocks/>
          </p:cNvCxnSpPr>
          <p:nvPr/>
        </p:nvCxnSpPr>
        <p:spPr>
          <a:xfrm rot="600000">
            <a:off x="6845907" y="3171176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6E6143E-CA14-03AE-71B1-E64EA3559FAA}"/>
              </a:ext>
            </a:extLst>
          </p:cNvPr>
          <p:cNvCxnSpPr>
            <a:cxnSpLocks/>
          </p:cNvCxnSpPr>
          <p:nvPr/>
        </p:nvCxnSpPr>
        <p:spPr>
          <a:xfrm rot="600000" flipV="1">
            <a:off x="6867936" y="2919364"/>
            <a:ext cx="233325" cy="233325"/>
          </a:xfrm>
          <a:prstGeom prst="straightConnector1">
            <a:avLst/>
          </a:prstGeom>
          <a:ln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E581648E-AD98-8A32-F8AF-26E3AB1205A5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7" y="2667554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00D86DC-68EA-275B-171C-BB2DDC850F67}"/>
              </a:ext>
            </a:extLst>
          </p:cNvPr>
          <p:cNvCxnSpPr>
            <a:cxnSpLocks/>
          </p:cNvCxnSpPr>
          <p:nvPr/>
        </p:nvCxnSpPr>
        <p:spPr>
          <a:xfrm rot="600000">
            <a:off x="6845908" y="3171176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C0351909-7EDE-2A3B-5287-1E1DAC4FFEFE}"/>
              </a:ext>
            </a:extLst>
          </p:cNvPr>
          <p:cNvCxnSpPr>
            <a:cxnSpLocks/>
          </p:cNvCxnSpPr>
          <p:nvPr/>
        </p:nvCxnSpPr>
        <p:spPr>
          <a:xfrm rot="600000" flipV="1">
            <a:off x="6867937" y="2919365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00525791-5406-2ABA-FB74-36DC5121B4B4}"/>
                  </a:ext>
                </a:extLst>
              </p:cNvPr>
              <p:cNvSpPr txBox="1"/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00525791-5406-2ABA-FB74-36DC5121B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blipFill>
                <a:blip r:embed="rId8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1C4FE72-37BE-F91C-D642-BB7748EB6BAD}"/>
                  </a:ext>
                </a:extLst>
              </p:cNvPr>
              <p:cNvSpPr txBox="1"/>
              <p:nvPr/>
            </p:nvSpPr>
            <p:spPr>
              <a:xfrm>
                <a:off x="6607797" y="336932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1C4FE72-37BE-F91C-D642-BB7748EB6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797" y="3369322"/>
                <a:ext cx="237656" cy="239373"/>
              </a:xfrm>
              <a:prstGeom prst="rect">
                <a:avLst/>
              </a:prstGeom>
              <a:blipFill>
                <a:blip r:embed="rId9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61F26E2F-FB3B-1C6A-9259-C2B0C8DA82FC}"/>
                  </a:ext>
                </a:extLst>
              </p:cNvPr>
              <p:cNvSpPr txBox="1"/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61F26E2F-FB3B-1C6A-9259-C2B0C8DA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blipFill>
                <a:blip r:embed="rId10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FF363309-ACA7-632B-5EBC-3B8A7D5ECB93}"/>
                  </a:ext>
                </a:extLst>
              </p:cNvPr>
              <p:cNvSpPr txBox="1"/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FF363309-ACA7-632B-5EBC-3B8A7D5EC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blipFill>
                <a:blip r:embed="rId11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DBF1468C-4025-1B0C-EE3D-8DE9BFF59054}"/>
                  </a:ext>
                </a:extLst>
              </p:cNvPr>
              <p:cNvSpPr txBox="1"/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DBF1468C-4025-1B0C-EE3D-8DE9BFF5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blipFill>
                <a:blip r:embed="rId12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28D195A4-E146-685E-A204-C6E91E6229B5}"/>
                  </a:ext>
                </a:extLst>
              </p:cNvPr>
              <p:cNvSpPr txBox="1"/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28D195A4-E146-685E-A204-C6E91E622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blipFill>
                <a:blip r:embed="rId13"/>
                <a:stretch>
                  <a:fillRect l="-39474" r="-789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CAA101D-AF99-40B5-AF51-1B89BC8FE4F7}"/>
                  </a:ext>
                </a:extLst>
              </p:cNvPr>
              <p:cNvSpPr txBox="1"/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CAA101D-AF99-40B5-AF51-1B89BC8FE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blipFill>
                <a:blip r:embed="rId14"/>
                <a:stretch>
                  <a:fillRect l="-35897" r="-769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600D594-E3E5-3C59-69DA-706FE1699391}"/>
                  </a:ext>
                </a:extLst>
              </p:cNvPr>
              <p:cNvSpPr txBox="1"/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600D594-E3E5-3C59-69DA-706FE169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blipFill>
                <a:blip r:embed="rId15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931DBCDC-31FB-F9BA-F78E-CEEB77FFB9B9}"/>
                  </a:ext>
                </a:extLst>
              </p:cNvPr>
              <p:cNvSpPr txBox="1"/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931DBCDC-31FB-F9BA-F78E-CEEB77FFB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blipFill>
                <a:blip r:embed="rId16"/>
                <a:stretch>
                  <a:fillRect l="-47368" r="-5263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14399779-B9D6-7424-5A0C-57C42645B683}"/>
                  </a:ext>
                </a:extLst>
              </p:cNvPr>
              <p:cNvSpPr txBox="1"/>
              <p:nvPr/>
            </p:nvSpPr>
            <p:spPr>
              <a:xfrm>
                <a:off x="8147015" y="1297928"/>
                <a:ext cx="38349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14399779-B9D6-7424-5A0C-57C42645B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015" y="1297928"/>
                <a:ext cx="383497" cy="257881"/>
              </a:xfrm>
              <a:prstGeom prst="rect">
                <a:avLst/>
              </a:prstGeom>
              <a:blipFill>
                <a:blip r:embed="rId17"/>
                <a:stretch>
                  <a:fillRect l="-25397" r="-11111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EDA172A5-8138-D83C-83B5-A6E054246D01}"/>
                  </a:ext>
                </a:extLst>
              </p:cNvPr>
              <p:cNvSpPr txBox="1"/>
              <p:nvPr/>
            </p:nvSpPr>
            <p:spPr>
              <a:xfrm>
                <a:off x="7991237" y="884854"/>
                <a:ext cx="38493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EDA172A5-8138-D83C-83B5-A6E054246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237" y="884854"/>
                <a:ext cx="384937" cy="257881"/>
              </a:xfrm>
              <a:prstGeom prst="rect">
                <a:avLst/>
              </a:prstGeom>
              <a:blipFill>
                <a:blip r:embed="rId18"/>
                <a:stretch>
                  <a:fillRect l="-31746" r="-9524" b="-452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0A58D66-E401-59CB-E3DA-475CD32824BD}"/>
                  </a:ext>
                </a:extLst>
              </p:cNvPr>
              <p:cNvSpPr txBox="1"/>
              <p:nvPr/>
            </p:nvSpPr>
            <p:spPr>
              <a:xfrm>
                <a:off x="7798168" y="634597"/>
                <a:ext cx="370863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0A58D66-E401-59CB-E3DA-475CD3282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168" y="634597"/>
                <a:ext cx="370863" cy="257881"/>
              </a:xfrm>
              <a:prstGeom prst="rect">
                <a:avLst/>
              </a:prstGeom>
              <a:blipFill>
                <a:blip r:embed="rId19"/>
                <a:stretch>
                  <a:fillRect l="-26230" r="-9836" b="-452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Bogen 67">
            <a:extLst>
              <a:ext uri="{FF2B5EF4-FFF2-40B4-BE49-F238E27FC236}">
                <a16:creationId xmlns:a16="http://schemas.microsoft.com/office/drawing/2014/main" id="{203EBFC0-0D9C-27C8-053A-6DD16AED6F20}"/>
              </a:ext>
            </a:extLst>
          </p:cNvPr>
          <p:cNvSpPr/>
          <p:nvPr/>
        </p:nvSpPr>
        <p:spPr>
          <a:xfrm rot="2701103">
            <a:off x="6413782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Bogen 68">
            <a:extLst>
              <a:ext uri="{FF2B5EF4-FFF2-40B4-BE49-F238E27FC236}">
                <a16:creationId xmlns:a16="http://schemas.microsoft.com/office/drawing/2014/main" id="{10BFE097-B59D-BD83-2D89-66454DA5B69B}"/>
              </a:ext>
            </a:extLst>
          </p:cNvPr>
          <p:cNvSpPr/>
          <p:nvPr/>
        </p:nvSpPr>
        <p:spPr>
          <a:xfrm rot="3185177">
            <a:off x="6738905" y="3879631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Bogen 69">
            <a:extLst>
              <a:ext uri="{FF2B5EF4-FFF2-40B4-BE49-F238E27FC236}">
                <a16:creationId xmlns:a16="http://schemas.microsoft.com/office/drawing/2014/main" id="{76973310-2F7C-6AB4-10DE-29A5569B36D6}"/>
              </a:ext>
            </a:extLst>
          </p:cNvPr>
          <p:cNvSpPr/>
          <p:nvPr/>
        </p:nvSpPr>
        <p:spPr>
          <a:xfrm rot="3185177">
            <a:off x="10761944" y="2962725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Bogen 70">
            <a:extLst>
              <a:ext uri="{FF2B5EF4-FFF2-40B4-BE49-F238E27FC236}">
                <a16:creationId xmlns:a16="http://schemas.microsoft.com/office/drawing/2014/main" id="{8E43FF7C-A77C-6C6E-C2B3-AA13DF917504}"/>
              </a:ext>
            </a:extLst>
          </p:cNvPr>
          <p:cNvSpPr/>
          <p:nvPr/>
        </p:nvSpPr>
        <p:spPr>
          <a:xfrm rot="809623">
            <a:off x="11183207" y="3871812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508FC80E-E28D-820A-393B-87BD2CD949FB}"/>
              </a:ext>
            </a:extLst>
          </p:cNvPr>
          <p:cNvSpPr/>
          <p:nvPr/>
        </p:nvSpPr>
        <p:spPr>
          <a:xfrm>
            <a:off x="7629131" y="1244166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D47A656F-0057-48B6-EF51-DE9E1083E2E8}"/>
              </a:ext>
            </a:extLst>
          </p:cNvPr>
          <p:cNvSpPr/>
          <p:nvPr/>
        </p:nvSpPr>
        <p:spPr>
          <a:xfrm>
            <a:off x="6828877" y="309045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0F30E96-FE71-B4D3-262D-E5396BC57F13}"/>
              </a:ext>
            </a:extLst>
          </p:cNvPr>
          <p:cNvSpPr/>
          <p:nvPr/>
        </p:nvSpPr>
        <p:spPr>
          <a:xfrm>
            <a:off x="6660298" y="400968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6CC4E3AB-7A49-4F5D-8909-DDDB82C3807C}"/>
              </a:ext>
            </a:extLst>
          </p:cNvPr>
          <p:cNvSpPr/>
          <p:nvPr/>
        </p:nvSpPr>
        <p:spPr>
          <a:xfrm>
            <a:off x="6353297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20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FAF949-89D2-D950-6F40-1D8CE2706474}"/>
                  </a:ext>
                </a:extLst>
              </p:cNvPr>
              <p:cNvSpPr txBox="1"/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FAF949-89D2-D950-6F40-1D8CE270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blipFill>
                <a:blip r:embed="rId21"/>
                <a:stretch>
                  <a:fillRect l="-43590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61772ED7-1B9F-EA64-06D4-AB9FBFD6BB2C}"/>
                  </a:ext>
                </a:extLst>
              </p:cNvPr>
              <p:cNvSpPr txBox="1"/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61772ED7-1B9F-EA64-06D4-AB9FBFD6B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blipFill>
                <a:blip r:embed="rId22"/>
                <a:stretch>
                  <a:fillRect l="-46154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7D06F109-E876-1C38-7599-13EB94E9B99B}"/>
                  </a:ext>
                </a:extLst>
              </p:cNvPr>
              <p:cNvSpPr txBox="1"/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7D06F109-E876-1C38-7599-13EB94E9B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blipFill>
                <a:blip r:embed="rId23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17CC7B4C-50A4-AA05-784F-F235BA6FAB9C}"/>
                  </a:ext>
                </a:extLst>
              </p:cNvPr>
              <p:cNvSpPr txBox="1"/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17CC7B4C-50A4-AA05-784F-F235BA6FA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blipFill>
                <a:blip r:embed="rId24"/>
                <a:stretch>
                  <a:fillRect l="-46154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6A880A9F-0D21-02A5-150B-4331C52F7EB9}"/>
              </a:ext>
            </a:extLst>
          </p:cNvPr>
          <p:cNvCxnSpPr>
            <a:cxnSpLocks/>
          </p:cNvCxnSpPr>
          <p:nvPr/>
        </p:nvCxnSpPr>
        <p:spPr>
          <a:xfrm>
            <a:off x="5995787" y="4868030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57B3B1EA-F996-2099-016F-37E642439411}"/>
                  </a:ext>
                </a:extLst>
              </p:cNvPr>
              <p:cNvSpPr txBox="1"/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57B3B1EA-F996-2099-016F-37E642439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blipFill>
                <a:blip r:embed="rId25"/>
                <a:stretch>
                  <a:fillRect l="-4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0918DAE3-7A47-55CF-3B68-5BBC358061DE}"/>
              </a:ext>
            </a:extLst>
          </p:cNvPr>
          <p:cNvCxnSpPr>
            <a:cxnSpLocks/>
          </p:cNvCxnSpPr>
          <p:nvPr/>
        </p:nvCxnSpPr>
        <p:spPr>
          <a:xfrm flipH="1">
            <a:off x="5995787" y="3935287"/>
            <a:ext cx="295276" cy="825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B46DD7C9-F97C-E075-0A41-B48A0C874789}"/>
                  </a:ext>
                </a:extLst>
              </p:cNvPr>
              <p:cNvSpPr txBox="1"/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B46DD7C9-F97C-E075-0A41-B48A0C87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blipFill>
                <a:blip r:embed="rId26"/>
                <a:stretch>
                  <a:fillRect l="-35000" r="-7500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9D3D83E9-606D-F91B-6D9B-8B7EDE583514}"/>
              </a:ext>
            </a:extLst>
          </p:cNvPr>
          <p:cNvCxnSpPr>
            <a:cxnSpLocks/>
          </p:cNvCxnSpPr>
          <p:nvPr/>
        </p:nvCxnSpPr>
        <p:spPr>
          <a:xfrm flipH="1">
            <a:off x="6293016" y="3034342"/>
            <a:ext cx="161425" cy="8954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865EE09F-09FE-D7E5-FE5D-825616328B44}"/>
                  </a:ext>
                </a:extLst>
              </p:cNvPr>
              <p:cNvSpPr txBox="1"/>
              <p:nvPr/>
            </p:nvSpPr>
            <p:spPr>
              <a:xfrm>
                <a:off x="6147242" y="3255842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865EE09F-09FE-D7E5-FE5D-82561632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242" y="3255842"/>
                <a:ext cx="243751" cy="239373"/>
              </a:xfrm>
              <a:prstGeom prst="rect">
                <a:avLst/>
              </a:prstGeom>
              <a:blipFill>
                <a:blip r:embed="rId27"/>
                <a:stretch>
                  <a:fillRect l="-35000" r="-7500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D3ACD1C6-7378-E091-B285-88294C833CFE}"/>
              </a:ext>
            </a:extLst>
          </p:cNvPr>
          <p:cNvCxnSpPr>
            <a:cxnSpLocks/>
          </p:cNvCxnSpPr>
          <p:nvPr/>
        </p:nvCxnSpPr>
        <p:spPr>
          <a:xfrm flipH="1" flipV="1">
            <a:off x="9301841" y="4223757"/>
            <a:ext cx="1937245" cy="329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2D5A2D2D-D5F6-8BF9-749B-090DC1283505}"/>
                  </a:ext>
                </a:extLst>
              </p:cNvPr>
              <p:cNvSpPr txBox="1"/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2D5A2D2D-D5F6-8BF9-749B-090DC128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blipFill>
                <a:blip r:embed="rId28"/>
                <a:stretch>
                  <a:fillRect l="-35000" r="-5000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8B4B42BE-668A-8AB2-7FE8-A0B7F58203D4}"/>
              </a:ext>
            </a:extLst>
          </p:cNvPr>
          <p:cNvCxnSpPr>
            <a:cxnSpLocks/>
          </p:cNvCxnSpPr>
          <p:nvPr/>
        </p:nvCxnSpPr>
        <p:spPr>
          <a:xfrm flipH="1">
            <a:off x="9259197" y="2978821"/>
            <a:ext cx="1310715" cy="9615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420ACB46-55D4-7561-D63D-1CC593D4137C}"/>
                  </a:ext>
                </a:extLst>
              </p:cNvPr>
              <p:cNvSpPr txBox="1"/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420ACB46-55D4-7561-D63D-1CC593D4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blipFill>
                <a:blip r:embed="rId29"/>
                <a:stretch>
                  <a:fillRect l="-43902" r="-7317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F505CC3E-C05A-B360-80A4-03FF2F32E204}"/>
              </a:ext>
            </a:extLst>
          </p:cNvPr>
          <p:cNvCxnSpPr>
            <a:endCxn id="72" idx="3"/>
          </p:cNvCxnSpPr>
          <p:nvPr/>
        </p:nvCxnSpPr>
        <p:spPr>
          <a:xfrm flipV="1">
            <a:off x="6890036" y="1297274"/>
            <a:ext cx="748206" cy="1792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52918EA4-EF5B-C71C-AF39-E47A7ACB0C43}"/>
                  </a:ext>
                </a:extLst>
              </p:cNvPr>
              <p:cNvSpPr txBox="1"/>
              <p:nvPr/>
            </p:nvSpPr>
            <p:spPr>
              <a:xfrm>
                <a:off x="7515790" y="1933573"/>
                <a:ext cx="2817514" cy="330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𝑡𝑐𝑝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b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𝑡𝑐𝑝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b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𝑡𝑐𝑝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52918EA4-EF5B-C71C-AF39-E47A7ACB0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790" y="1933573"/>
                <a:ext cx="2817514" cy="330247"/>
              </a:xfrm>
              <a:prstGeom prst="rect">
                <a:avLst/>
              </a:prstGeom>
              <a:blipFill>
                <a:blip r:embed="rId30"/>
                <a:stretch>
                  <a:fillRect l="-10606" r="-7143" b="-370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7085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6">
            <a:extLst>
              <a:ext uri="{FF2B5EF4-FFF2-40B4-BE49-F238E27FC236}">
                <a16:creationId xmlns:a16="http://schemas.microsoft.com/office/drawing/2014/main" id="{89426831-508D-4FA2-AB9C-2CD7566599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/>
          <a:lstStyle/>
          <a:p>
            <a:r>
              <a:rPr lang="de-DE" u="sng" dirty="0"/>
              <a:t>Autor</a:t>
            </a:r>
            <a:r>
              <a:rPr lang="de-DE" dirty="0"/>
              <a:t>, Koautoren</a:t>
            </a:r>
          </a:p>
          <a:p>
            <a:endParaRPr lang="de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35863882-B3DE-4C8D-A185-02B04BE5BB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de-DE" dirty="0"/>
              <a:t>Univ.-Prof. Dr.-Ing. Prof. h.c. Dr. h.c. Torsten Bertram</a:t>
            </a:r>
          </a:p>
          <a:p>
            <a:pPr>
              <a:defRPr/>
            </a:pPr>
            <a:r>
              <a:rPr lang="de-DE" dirty="0"/>
              <a:t>Lehrstuhl für Regelungssystemtechnik</a:t>
            </a:r>
          </a:p>
          <a:p>
            <a:endParaRPr lang="de-DE" dirty="0"/>
          </a:p>
        </p:txBody>
      </p:sp>
      <p:sp>
        <p:nvSpPr>
          <p:cNvPr id="8" name="Untertitel 3">
            <a:extLst>
              <a:ext uri="{FF2B5EF4-FFF2-40B4-BE49-F238E27FC236}">
                <a16:creationId xmlns:a16="http://schemas.microsoft.com/office/drawing/2014/main" id="{04EB03CD-931E-47EA-92AB-C3FF6EF8A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/>
          <a:lstStyle/>
          <a:p>
            <a:r>
              <a:rPr lang="de-DE" altLang="de-DE" dirty="0"/>
              <a:t>Name der Veranstaltung, Ort, TT. - TT. Monat JJJJ</a:t>
            </a:r>
          </a:p>
          <a:p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33F5D724-1EF7-46DF-9AFF-1F3A4E301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/>
              <a:t>Titel des Vortrages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117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6">
            <a:extLst>
              <a:ext uri="{FF2B5EF4-FFF2-40B4-BE49-F238E27FC236}">
                <a16:creationId xmlns:a16="http://schemas.microsoft.com/office/drawing/2014/main" id="{E6C220ED-19C8-4F76-A020-CA23A0F465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en-US" u="sng" dirty="0"/>
              <a:t>Author</a:t>
            </a:r>
            <a:r>
              <a:rPr lang="en-US" dirty="0"/>
              <a:t>, co-authors</a:t>
            </a:r>
          </a:p>
          <a:p>
            <a:endParaRPr lang="de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C3827B1-4398-4884-8B73-F01C20E55E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de-DE" dirty="0"/>
              <a:t>Univ.-Prof. Dr.-Ing. Prof. h.c. Dr. h.c. Torsten Bertram</a:t>
            </a:r>
          </a:p>
          <a:p>
            <a:pPr>
              <a:defRPr/>
            </a:pPr>
            <a:r>
              <a:rPr lang="en-US" dirty="0"/>
              <a:t>Institute of Control Theory and Systems Engineering</a:t>
            </a:r>
          </a:p>
          <a:p>
            <a:endParaRPr lang="de-DE" dirty="0"/>
          </a:p>
        </p:txBody>
      </p:sp>
      <p:sp>
        <p:nvSpPr>
          <p:cNvPr id="8" name="Untertitel 3">
            <a:extLst>
              <a:ext uri="{FF2B5EF4-FFF2-40B4-BE49-F238E27FC236}">
                <a16:creationId xmlns:a16="http://schemas.microsoft.com/office/drawing/2014/main" id="{E3A5BA58-1693-44C8-A922-49C7DBF1F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/>
          <a:lstStyle/>
          <a:p>
            <a:r>
              <a:rPr lang="de-DE" altLang="de-DE" dirty="0"/>
              <a:t>Name </a:t>
            </a:r>
            <a:r>
              <a:rPr lang="de-DE" altLang="de-DE" dirty="0" err="1"/>
              <a:t>of</a:t>
            </a:r>
            <a:r>
              <a:rPr lang="de-DE" altLang="de-DE" dirty="0"/>
              <a:t> </a:t>
            </a:r>
            <a:r>
              <a:rPr lang="de-DE" altLang="de-DE" dirty="0" err="1"/>
              <a:t>event</a:t>
            </a:r>
            <a:r>
              <a:rPr lang="de-DE" altLang="de-DE" dirty="0"/>
              <a:t>, Location, </a:t>
            </a:r>
            <a:r>
              <a:rPr lang="de-DE" altLang="de-DE" dirty="0" err="1"/>
              <a:t>Month</a:t>
            </a:r>
            <a:r>
              <a:rPr lang="de-DE" altLang="de-DE" dirty="0"/>
              <a:t> </a:t>
            </a:r>
            <a:r>
              <a:rPr lang="de-DE" altLang="de-DE" dirty="0" err="1"/>
              <a:t>dd</a:t>
            </a:r>
            <a:r>
              <a:rPr lang="de-DE" altLang="de-DE" baseline="30000" dirty="0" err="1"/>
              <a:t>th</a:t>
            </a:r>
            <a:r>
              <a:rPr lang="de-DE" altLang="de-DE" dirty="0"/>
              <a:t> - </a:t>
            </a:r>
            <a:r>
              <a:rPr lang="de-DE" altLang="de-DE" dirty="0" err="1"/>
              <a:t>dd</a:t>
            </a:r>
            <a:r>
              <a:rPr lang="de-DE" altLang="de-DE" baseline="30000" dirty="0" err="1"/>
              <a:t>th</a:t>
            </a:r>
            <a:r>
              <a:rPr lang="de-DE" altLang="de-DE" dirty="0"/>
              <a:t> </a:t>
            </a:r>
            <a:r>
              <a:rPr lang="de-DE" altLang="de-DE" dirty="0" err="1"/>
              <a:t>yyyy</a:t>
            </a:r>
            <a:endParaRPr lang="de-DE" altLang="de-DE" dirty="0"/>
          </a:p>
          <a:p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9969CD90-D439-4139-B2F3-5FEDA3C8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/>
              <a:t>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1707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7">
            <a:extLst>
              <a:ext uri="{FF2B5EF4-FFF2-40B4-BE49-F238E27FC236}">
                <a16:creationId xmlns:a16="http://schemas.microsoft.com/office/drawing/2014/main" id="{CFA9838F-8FE1-45B3-BEDE-30D7A09F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  <a:endParaRPr lang="en-US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7A7DF948-24BF-4552-814B-6F912B6D2D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Einleitung</a:t>
            </a:r>
            <a:endParaRPr lang="en-US" dirty="0"/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E2C13373-B387-47F1-9CDB-34E1BB323F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Inaktive Ebene</a:t>
            </a:r>
          </a:p>
          <a:p>
            <a:endParaRPr lang="en-US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F2A2713F-1C22-4AEA-A0BE-245A9E6A41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Aktive</a:t>
            </a:r>
            <a:r>
              <a:rPr lang="en-US" dirty="0"/>
              <a:t> </a:t>
            </a:r>
            <a:r>
              <a:rPr lang="en-US" dirty="0" err="1"/>
              <a:t>Ebene</a:t>
            </a:r>
            <a:r>
              <a:rPr lang="en-US" dirty="0"/>
              <a:t>  (RGB: 132/184/24)</a:t>
            </a:r>
          </a:p>
          <a:p>
            <a:endParaRPr lang="en-US" dirty="0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52D5E50A-E928-47C7-BB53-A81DA77A92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VERWENDE “Layouts” für die Bearbeitung</a:t>
            </a:r>
          </a:p>
          <a:p>
            <a:endParaRPr lang="en-US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2F88BFE8-DCC7-4E68-8EC6-E43F8A5AB6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Zusammenfassung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425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0F568FE5-6A0B-4755-8C98-D4851040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 altLang="de-DE" dirty="0"/>
              <a:t>Outline</a:t>
            </a:r>
            <a:endParaRPr lang="en-US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57E4DEB-8EFF-4520-89A3-D2734336A7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endParaRPr lang="en-US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0B1FEAF-579D-462A-9E6D-EC6820C218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/>
          <a:p>
            <a:r>
              <a:rPr lang="de-DE" dirty="0" err="1"/>
              <a:t>Inactive</a:t>
            </a:r>
            <a:r>
              <a:rPr lang="de-DE" dirty="0"/>
              <a:t> Layer</a:t>
            </a:r>
          </a:p>
          <a:p>
            <a:endParaRPr lang="en-US" dirty="0"/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888CD937-6890-454E-AE41-634B4B0BF5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/>
          <a:p>
            <a:r>
              <a:rPr lang="en-US" dirty="0"/>
              <a:t>Active Layer  (RGB: 132/184/24)</a:t>
            </a:r>
          </a:p>
          <a:p>
            <a:endParaRPr lang="en-US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3E7C537-F928-48BF-A31D-274E52CC8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/>
          <a:p>
            <a:r>
              <a:rPr lang="de-DE" dirty="0"/>
              <a:t>USE “Layouts”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modifications</a:t>
            </a:r>
            <a:endParaRPr lang="de-DE" dirty="0"/>
          </a:p>
          <a:p>
            <a:endParaRPr lang="en-US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5DE2BFBC-DF13-4C16-936C-AE2527AA3E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/>
          <a:p>
            <a:r>
              <a:rPr lang="de-DE" dirty="0" err="1"/>
              <a:t>Conclusions</a:t>
            </a:r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71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6A79D-C0E0-43CD-A0C6-01CF9E0E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Formatierung</a:t>
            </a:r>
            <a:endParaRPr lang="en-US" dirty="0"/>
          </a:p>
        </p:txBody>
      </p:sp>
      <p:sp>
        <p:nvSpPr>
          <p:cNvPr id="4" name="Inhaltsplatzhalter 8">
            <a:extLst>
              <a:ext uri="{FF2B5EF4-FFF2-40B4-BE49-F238E27FC236}">
                <a16:creationId xmlns:a16="http://schemas.microsoft.com/office/drawing/2014/main" id="{9C5C3880-FEA4-4E18-9C77-A8AD71E26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69" y="727038"/>
            <a:ext cx="11235267" cy="5618200"/>
          </a:xfrm>
        </p:spPr>
        <p:txBody>
          <a:bodyPr/>
          <a:lstStyle/>
          <a:p>
            <a:r>
              <a:rPr lang="de-DE" altLang="de-DE" dirty="0"/>
              <a:t>erste Ebene: schwarz, normal, Arial, 22</a:t>
            </a:r>
            <a:br>
              <a:rPr lang="de-DE" altLang="de-DE" dirty="0"/>
            </a:br>
            <a:r>
              <a:rPr lang="de-DE" altLang="de-DE" dirty="0"/>
              <a:t>hervorzuhebende Ausdrücke:</a:t>
            </a:r>
            <a:br>
              <a:rPr lang="de-DE" altLang="de-DE" dirty="0"/>
            </a:br>
            <a:r>
              <a:rPr lang="de-DE" altLang="de-DE" b="1" dirty="0">
                <a:solidFill>
                  <a:srgbClr val="84B818"/>
                </a:solidFill>
              </a:rPr>
              <a:t>apfelgrün und fett (RGB: 132  184  24)</a:t>
            </a:r>
            <a:r>
              <a:rPr lang="de-DE" altLang="de-DE" b="1" dirty="0"/>
              <a:t> </a:t>
            </a:r>
            <a:r>
              <a:rPr lang="de-DE" altLang="de-DE" dirty="0"/>
              <a:t>oder</a:t>
            </a:r>
            <a:br>
              <a:rPr lang="de-DE" altLang="de-DE" dirty="0"/>
            </a:br>
            <a:r>
              <a:rPr lang="de-DE" altLang="de-DE" b="1" dirty="0">
                <a:solidFill>
                  <a:srgbClr val="FF6600"/>
                </a:solidFill>
              </a:rPr>
              <a:t>orange und fett (RGB: 255  102  0)</a:t>
            </a:r>
          </a:p>
          <a:p>
            <a:pPr lvl="1"/>
            <a:r>
              <a:rPr lang="de-DE" altLang="de-DE" dirty="0"/>
              <a:t>zweite Ebene: schwarz, normal, Arial, 20; </a:t>
            </a:r>
            <a:r>
              <a:rPr lang="de-DE" altLang="de-DE" b="1" dirty="0">
                <a:solidFill>
                  <a:srgbClr val="84B818"/>
                </a:solidFill>
              </a:rPr>
              <a:t>apfelgrün </a:t>
            </a:r>
            <a:r>
              <a:rPr lang="de-DE" altLang="de-DE" b="1" dirty="0">
                <a:solidFill>
                  <a:srgbClr val="FF6600"/>
                </a:solidFill>
              </a:rPr>
              <a:t>orange </a:t>
            </a:r>
            <a:endParaRPr lang="de-DE" altLang="de-DE" dirty="0"/>
          </a:p>
          <a:p>
            <a:pPr lvl="2"/>
            <a:r>
              <a:rPr lang="de-DE" altLang="de-DE" dirty="0"/>
              <a:t>dritte Ebene: grau, normal, Arial, 18; </a:t>
            </a:r>
            <a:r>
              <a:rPr lang="de-DE" altLang="de-DE" b="1" dirty="0">
                <a:solidFill>
                  <a:srgbClr val="84B818"/>
                </a:solidFill>
              </a:rPr>
              <a:t>apfelgrün </a:t>
            </a:r>
            <a:r>
              <a:rPr lang="de-DE" altLang="de-DE" b="1" dirty="0">
                <a:solidFill>
                  <a:srgbClr val="FF6600"/>
                </a:solidFill>
              </a:rPr>
              <a:t>orange </a:t>
            </a:r>
            <a:endParaRPr lang="de-DE" alt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44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8F4A30-6826-429D-B515-D3C04BA07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pPr eaLnBrk="1" hangingPunct="1"/>
            <a:r>
              <a:rPr lang="de-DE" altLang="de-DE" dirty="0"/>
              <a:t>Farbschema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375D94-050E-4007-B458-62CA8D8F5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5" y="727076"/>
            <a:ext cx="8426450" cy="561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altLang="de-DE" kern="0"/>
              <a:t>Weitere Farben zum Hervor-</a:t>
            </a:r>
            <a:br>
              <a:rPr lang="de-DE" altLang="de-DE" kern="0"/>
            </a:br>
            <a:r>
              <a:rPr lang="de-DE" altLang="de-DE" kern="0"/>
              <a:t>heben und Farbighinterlegen </a:t>
            </a:r>
            <a:br>
              <a:rPr lang="de-DE" altLang="de-DE" kern="0"/>
            </a:br>
            <a:r>
              <a:rPr lang="de-DE" altLang="de-DE" kern="0"/>
              <a:t>(Transparenz = 0%, da sonst </a:t>
            </a:r>
            <a:br>
              <a:rPr lang="de-DE" altLang="de-DE" kern="0"/>
            </a:br>
            <a:r>
              <a:rPr lang="de-DE" altLang="de-DE" kern="0"/>
              <a:t>teilweise karierte Darstellung </a:t>
            </a:r>
            <a:br>
              <a:rPr lang="de-DE" altLang="de-DE" kern="0"/>
            </a:br>
            <a:r>
              <a:rPr lang="de-DE" altLang="de-DE" kern="0"/>
              <a:t>möglich)</a:t>
            </a:r>
          </a:p>
          <a:p>
            <a:endParaRPr lang="de-DE" altLang="de-DE" kern="0"/>
          </a:p>
          <a:p>
            <a:r>
              <a:rPr lang="de-DE" altLang="de-DE" kern="0"/>
              <a:t>Farbschema</a:t>
            </a:r>
          </a:p>
          <a:p>
            <a:endParaRPr lang="de-DE" altLang="de-DE" kern="0"/>
          </a:p>
        </p:txBody>
      </p:sp>
      <p:graphicFrame>
        <p:nvGraphicFramePr>
          <p:cNvPr id="8" name="Group 8">
            <a:extLst>
              <a:ext uri="{FF2B5EF4-FFF2-40B4-BE49-F238E27FC236}">
                <a16:creationId xmlns:a16="http://schemas.microsoft.com/office/drawing/2014/main" id="{DE39671E-6C83-44CF-AA37-AB512BBC59FC}"/>
              </a:ext>
            </a:extLst>
          </p:cNvPr>
          <p:cNvGraphicFramePr>
            <a:graphicFrameLocks noGrp="1"/>
          </p:cNvGraphicFramePr>
          <p:nvPr/>
        </p:nvGraphicFramePr>
        <p:xfrm>
          <a:off x="6275389" y="765176"/>
          <a:ext cx="4213225" cy="3203575"/>
        </p:xfrm>
        <a:graphic>
          <a:graphicData uri="http://schemas.openxmlformats.org/drawingml/2006/table">
            <a:tbl>
              <a:tblPr/>
              <a:tblGrid>
                <a:gridCol w="1169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RGB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Füllung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4B818"/>
                          </a:solidFill>
                          <a:effectLst/>
                          <a:latin typeface="Arial" charset="0"/>
                        </a:rPr>
                        <a:t>132 184 24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AEF81"/>
                          </a:solidFill>
                          <a:effectLst/>
                          <a:latin typeface="Arial" charset="0"/>
                        </a:rPr>
                        <a:t>202 239 129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255 102 0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AD75"/>
                          </a:solidFill>
                          <a:effectLst/>
                          <a:latin typeface="Arial" charset="0"/>
                        </a:rPr>
                        <a:t>255 173 117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0 102 255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BBAFF"/>
                          </a:solidFill>
                          <a:effectLst/>
                          <a:latin typeface="Arial" charset="0"/>
                        </a:rPr>
                        <a:t>139 186 255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" charset="0"/>
                        </a:rPr>
                        <a:t>255 204 0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E98B"/>
                          </a:solidFill>
                          <a:effectLst/>
                          <a:latin typeface="Arial" charset="0"/>
                        </a:rPr>
                        <a:t>255 233 139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46">
            <a:extLst>
              <a:ext uri="{FF2B5EF4-FFF2-40B4-BE49-F238E27FC236}">
                <a16:creationId xmlns:a16="http://schemas.microsoft.com/office/drawing/2014/main" id="{B16F7C87-163E-42DE-AE2B-CB3637386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1952625"/>
            <a:ext cx="1079500" cy="539750"/>
          </a:xfrm>
          <a:prstGeom prst="rect">
            <a:avLst/>
          </a:prstGeom>
          <a:solidFill>
            <a:srgbClr val="FFAD75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10" name="Rectangle 47">
            <a:extLst>
              <a:ext uri="{FF2B5EF4-FFF2-40B4-BE49-F238E27FC236}">
                <a16:creationId xmlns:a16="http://schemas.microsoft.com/office/drawing/2014/main" id="{3B65BF13-282F-4675-9E1C-286BC04FE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2636838"/>
            <a:ext cx="1079500" cy="539750"/>
          </a:xfrm>
          <a:prstGeom prst="rect">
            <a:avLst/>
          </a:prstGeom>
          <a:solidFill>
            <a:srgbClr val="8BBAFF"/>
          </a:solidFill>
          <a:ln w="19050">
            <a:solidFill>
              <a:srgbClr val="0066FF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8C185CE0-5823-48C2-993E-83DAD122F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3332163"/>
            <a:ext cx="1079500" cy="539750"/>
          </a:xfrm>
          <a:prstGeom prst="rect">
            <a:avLst/>
          </a:prstGeom>
          <a:solidFill>
            <a:srgbClr val="FFE98B"/>
          </a:solidFill>
          <a:ln w="19050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12" name="Rectangle 49">
            <a:extLst>
              <a:ext uri="{FF2B5EF4-FFF2-40B4-BE49-F238E27FC236}">
                <a16:creationId xmlns:a16="http://schemas.microsoft.com/office/drawing/2014/main" id="{D4A66DBB-AB32-401E-9E4A-1C378EDF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1244600"/>
            <a:ext cx="1079500" cy="539750"/>
          </a:xfrm>
          <a:prstGeom prst="rect">
            <a:avLst/>
          </a:prstGeom>
          <a:solidFill>
            <a:srgbClr val="CAEF81"/>
          </a:solidFill>
          <a:ln w="19050">
            <a:solidFill>
              <a:srgbClr val="84B818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pic>
        <p:nvPicPr>
          <p:cNvPr id="13" name="Picture 51">
            <a:extLst>
              <a:ext uri="{FF2B5EF4-FFF2-40B4-BE49-F238E27FC236}">
                <a16:creationId xmlns:a16="http://schemas.microsoft.com/office/drawing/2014/main" id="{141067C9-D5A5-459E-BEC2-0A9B89D28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3429001"/>
            <a:ext cx="4429125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540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2841-C794-437A-BFAD-9DDA0AB5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Das Corporate Design der TU Dortmund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82FC0-F4F5-4D6F-9EEC-DF2D6694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https://itmc.tu-dortmund.de/unsere-services/medien-services/grafik/design/corporate-design/</a:t>
            </a:r>
            <a:endParaRPr lang="en-US" dirty="0"/>
          </a:p>
          <a:p>
            <a:endParaRPr lang="en-US" dirty="0"/>
          </a:p>
          <a:p>
            <a:r>
              <a:rPr lang="de-DE" dirty="0"/>
              <a:t>Vorlagen: </a:t>
            </a:r>
            <a:r>
              <a:rPr lang="en-US" dirty="0">
                <a:hlinkClick r:id="rId3"/>
              </a:rPr>
              <a:t>https://service.tu-dortmund.de/group/intra/corporate-design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7F720-E1CA-4AF9-AC08-8FE2D404A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648" y="2507688"/>
            <a:ext cx="6197708" cy="372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29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3AAA290A-9480-4E41-B7C5-656F222E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 altLang="de-DE" dirty="0" err="1"/>
              <a:t>TeX</a:t>
            </a:r>
            <a:r>
              <a:rPr lang="de-DE" altLang="de-DE" dirty="0"/>
              <a:t> Formeln</a:t>
            </a:r>
            <a:endParaRPr lang="en-US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DFF2CE57-DD29-4203-A976-1F4E3622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69" y="727038"/>
            <a:ext cx="11235267" cy="5618200"/>
          </a:xfrm>
        </p:spPr>
        <p:txBody>
          <a:bodyPr/>
          <a:lstStyle/>
          <a:p>
            <a:r>
              <a:rPr lang="de-DE" altLang="de-DE" dirty="0"/>
              <a:t>Formeln im Latex-Stil lassen sich bequem mit Hilfe des </a:t>
            </a:r>
            <a:r>
              <a:rPr lang="de-DE" altLang="de-DE" b="1" dirty="0" err="1">
                <a:solidFill>
                  <a:srgbClr val="84B818"/>
                </a:solidFill>
              </a:rPr>
              <a:t>IguanaTex</a:t>
            </a:r>
            <a:r>
              <a:rPr lang="de-DE" altLang="de-DE" dirty="0">
                <a:solidFill>
                  <a:srgbClr val="84B818"/>
                </a:solidFill>
              </a:rPr>
              <a:t> </a:t>
            </a:r>
            <a:r>
              <a:rPr lang="de-DE" altLang="de-DE" dirty="0" err="1"/>
              <a:t>Plugins</a:t>
            </a:r>
            <a:r>
              <a:rPr lang="de-DE" altLang="de-DE" dirty="0"/>
              <a:t> in die Folien einbinden (Windows):</a:t>
            </a:r>
            <a:br>
              <a:rPr lang="de-DE" altLang="de-DE" dirty="0"/>
            </a:br>
            <a:br>
              <a:rPr lang="de-DE" altLang="de-DE" dirty="0"/>
            </a:br>
            <a:r>
              <a:rPr lang="de-DE" altLang="de-DE" dirty="0">
                <a:hlinkClick r:id="rId2"/>
              </a:rPr>
              <a:t>http://www.jonathanleroux.org/software/iguanatex/</a:t>
            </a:r>
            <a:endParaRPr lang="de-DE" altLang="de-DE" dirty="0"/>
          </a:p>
          <a:p>
            <a:endParaRPr lang="de-DE" altLang="de-DE" dirty="0"/>
          </a:p>
          <a:p>
            <a:r>
              <a:rPr lang="de-DE" altLang="de-DE" dirty="0"/>
              <a:t>Nachhaltige, wiederwertbare Foliensätze am Lehrstuhl RST sollten </a:t>
            </a:r>
            <a:r>
              <a:rPr lang="de-DE" altLang="de-DE" b="1" dirty="0">
                <a:solidFill>
                  <a:srgbClr val="84B818"/>
                </a:solidFill>
              </a:rPr>
              <a:t>grundsätzlich</a:t>
            </a:r>
            <a:r>
              <a:rPr lang="de-DE" altLang="de-DE" dirty="0"/>
              <a:t> nur mit </a:t>
            </a:r>
            <a:r>
              <a:rPr lang="de-DE" altLang="de-DE" dirty="0" err="1"/>
              <a:t>Boardmitteln</a:t>
            </a:r>
            <a:r>
              <a:rPr lang="de-DE" altLang="de-DE" dirty="0"/>
              <a:t> + </a:t>
            </a:r>
            <a:r>
              <a:rPr lang="de-DE" altLang="de-DE" dirty="0" err="1"/>
              <a:t>IguanaTex</a:t>
            </a:r>
            <a:r>
              <a:rPr lang="de-DE" altLang="de-DE" dirty="0"/>
              <a:t> erstellt werden.</a:t>
            </a:r>
          </a:p>
          <a:p>
            <a:endParaRPr lang="de-DE" altLang="de-DE" dirty="0"/>
          </a:p>
          <a:p>
            <a:r>
              <a:rPr lang="de-DE" altLang="de-DE" dirty="0"/>
              <a:t>Für Mac OSX Benutzer gibt es eine Alternative, Kompatibilität mit </a:t>
            </a:r>
            <a:r>
              <a:rPr lang="de-DE" altLang="de-DE" dirty="0" err="1"/>
              <a:t>IguanaTex</a:t>
            </a:r>
            <a:r>
              <a:rPr lang="de-DE" altLang="de-DE" dirty="0"/>
              <a:t> ist ausgeschlossen und daher sollte diese nur in wenigen Fällen Verwendung finden (z.B. in Abschlussarbeiten):</a:t>
            </a:r>
            <a:br>
              <a:rPr lang="de-DE" altLang="de-DE" dirty="0"/>
            </a:br>
            <a:br>
              <a:rPr lang="de-DE" altLang="de-DE" dirty="0"/>
            </a:br>
            <a:r>
              <a:rPr lang="de-DE" altLang="de-DE" dirty="0">
                <a:hlinkClick r:id="rId3"/>
              </a:rPr>
              <a:t>http://www.chachatelier.fr/latexit/</a:t>
            </a:r>
            <a:endParaRPr lang="de-DE" alt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46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FD3DEB7-9557-4BAD-831E-F87EA616C806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/>
              <a:t>Univ.-Prof. Dr.-Ing. Prof. h.c. Dr. h.c. Torsten Bertram</a:t>
            </a:r>
          </a:p>
          <a:p>
            <a:pPr>
              <a:defRPr/>
            </a:pPr>
            <a:r>
              <a:rPr lang="en-US"/>
              <a:t>Institute of Control Theory and Systems Engineering</a:t>
            </a:r>
          </a:p>
          <a:p>
            <a:endParaRPr lang="en-US"/>
          </a:p>
        </p:txBody>
      </p:sp>
      <p:pic>
        <p:nvPicPr>
          <p:cNvPr id="10" name="Bildplatzhalter 1">
            <a:extLst>
              <a:ext uri="{FF2B5EF4-FFF2-40B4-BE49-F238E27FC236}">
                <a16:creationId xmlns:a16="http://schemas.microsoft.com/office/drawing/2014/main" id="{9AAB7740-0EA3-43C6-8687-A0D1A5C32B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" t="36179" r="7297" b="4435"/>
          <a:stretch/>
        </p:blipFill>
        <p:spPr bwMode="auto">
          <a:xfrm>
            <a:off x="6881505" y="1530365"/>
            <a:ext cx="2852479" cy="1425600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7">
            <a:extLst>
              <a:ext uri="{FF2B5EF4-FFF2-40B4-BE49-F238E27FC236}">
                <a16:creationId xmlns:a16="http://schemas.microsoft.com/office/drawing/2014/main" id="{D603BBFC-25CF-4764-BF22-8CF4E397D9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3" t="15158" r="11853" b="14796"/>
          <a:stretch/>
        </p:blipFill>
        <p:spPr>
          <a:xfrm>
            <a:off x="6881504" y="3139213"/>
            <a:ext cx="2852479" cy="1426759"/>
          </a:xfrm>
          <a:prstGeom prst="rect">
            <a:avLst/>
          </a:prstGeom>
          <a:ln w="19050">
            <a:solidFill>
              <a:srgbClr val="84B818"/>
            </a:solidFill>
          </a:ln>
        </p:spPr>
      </p:pic>
      <p:sp>
        <p:nvSpPr>
          <p:cNvPr id="14" name="Titel 4">
            <a:extLst>
              <a:ext uri="{FF2B5EF4-FFF2-40B4-BE49-F238E27FC236}">
                <a16:creationId xmlns:a16="http://schemas.microsoft.com/office/drawing/2014/main" id="{7CAD6299-698C-4286-A795-C0A298AA7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 err="1"/>
              <a:t>Thank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your</a:t>
            </a:r>
            <a:r>
              <a:rPr lang="de-DE" altLang="de-DE" dirty="0"/>
              <a:t> </a:t>
            </a:r>
            <a:r>
              <a:rPr lang="de-DE" altLang="de-DE" dirty="0" err="1"/>
              <a:t>kind</a:t>
            </a:r>
            <a:r>
              <a:rPr lang="de-DE" altLang="de-DE" dirty="0"/>
              <a:t> </a:t>
            </a:r>
            <a:r>
              <a:rPr lang="de-DE" altLang="de-DE" dirty="0" err="1"/>
              <a:t>attention</a:t>
            </a:r>
            <a:r>
              <a:rPr lang="de-DE" altLang="de-DE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203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B34E0E19-F85A-48CA-A971-B31F9C3A8F74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Univ.-Prof. Dr.-Ing. Prof. h.c. Dr. h.c. Torsten Bertram</a:t>
            </a:r>
          </a:p>
          <a:p>
            <a:r>
              <a:rPr lang="en-US"/>
              <a:t>Lehrstuhl für Regelungssystemtechnik</a:t>
            </a:r>
          </a:p>
          <a:p>
            <a:endParaRPr lang="en-US"/>
          </a:p>
        </p:txBody>
      </p:sp>
      <p:sp>
        <p:nvSpPr>
          <p:cNvPr id="13" name="Titel 4">
            <a:extLst>
              <a:ext uri="{FF2B5EF4-FFF2-40B4-BE49-F238E27FC236}">
                <a16:creationId xmlns:a16="http://schemas.microsoft.com/office/drawing/2014/main" id="{FE531E95-7E7F-4EFC-AC13-120AE74DB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192"/>
            <a:ext cx="9768321" cy="425479"/>
          </a:xfrm>
        </p:spPr>
        <p:txBody>
          <a:bodyPr/>
          <a:lstStyle/>
          <a:p>
            <a:r>
              <a:rPr lang="de-DE" altLang="de-DE" dirty="0"/>
              <a:t>Vielen Dank für Ihre Aufmerksamkeit!</a:t>
            </a:r>
            <a:endParaRPr lang="en-US" dirty="0"/>
          </a:p>
        </p:txBody>
      </p:sp>
      <p:pic>
        <p:nvPicPr>
          <p:cNvPr id="14" name="Bildplatzhalter 1">
            <a:extLst>
              <a:ext uri="{FF2B5EF4-FFF2-40B4-BE49-F238E27FC236}">
                <a16:creationId xmlns:a16="http://schemas.microsoft.com/office/drawing/2014/main" id="{4342A7FE-C060-4F2A-B179-FB3821554F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" t="36179" r="7297" b="4435"/>
          <a:stretch/>
        </p:blipFill>
        <p:spPr bwMode="auto">
          <a:xfrm>
            <a:off x="6881505" y="1530365"/>
            <a:ext cx="2852479" cy="1425600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rafik 10">
            <a:extLst>
              <a:ext uri="{FF2B5EF4-FFF2-40B4-BE49-F238E27FC236}">
                <a16:creationId xmlns:a16="http://schemas.microsoft.com/office/drawing/2014/main" id="{1BF67D3C-5878-4108-B19A-A91D0877FA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3" t="15158" r="11853" b="14796"/>
          <a:stretch/>
        </p:blipFill>
        <p:spPr>
          <a:xfrm>
            <a:off x="6881504" y="3139213"/>
            <a:ext cx="2852479" cy="1426759"/>
          </a:xfrm>
          <a:prstGeom prst="rect">
            <a:avLst/>
          </a:prstGeom>
          <a:ln w="19050">
            <a:solidFill>
              <a:srgbClr val="84B818"/>
            </a:solidFill>
          </a:ln>
        </p:spPr>
      </p:pic>
    </p:spTree>
    <p:extLst>
      <p:ext uri="{BB962C8B-B14F-4D97-AF65-F5344CB8AC3E}">
        <p14:creationId xmlns:p14="http://schemas.microsoft.com/office/powerpoint/2010/main" val="257471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2" descr="cid:image001.jpg@01DA1D30.D703D800">
            <a:extLst>
              <a:ext uri="{FF2B5EF4-FFF2-40B4-BE49-F238E27FC236}">
                <a16:creationId xmlns:a16="http://schemas.microsoft.com/office/drawing/2014/main" id="{B5860F97-735E-455C-853F-B71545C66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2" b="25369"/>
          <a:stretch>
            <a:fillRect/>
          </a:stretch>
        </p:blipFill>
        <p:spPr bwMode="auto">
          <a:xfrm>
            <a:off x="6879623" y="1532621"/>
            <a:ext cx="2851200" cy="1421783"/>
          </a:xfrm>
          <a:prstGeom prst="rect">
            <a:avLst/>
          </a:prstGeom>
          <a:noFill/>
          <a:ln w="19050">
            <a:solidFill>
              <a:srgbClr val="84B81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FD3DEB7-9557-4BAD-831E-F87EA616C806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/>
              <a:t>Univ.-Prof. Dr.-Ing. Prof. h.c. Dr. h.c. Torsten Bertram</a:t>
            </a:r>
          </a:p>
          <a:p>
            <a:pPr>
              <a:defRPr/>
            </a:pPr>
            <a:r>
              <a:rPr lang="en-US"/>
              <a:t>Institute of Control Theory and Systems Engineering</a:t>
            </a:r>
          </a:p>
          <a:p>
            <a:endParaRPr lang="en-US"/>
          </a:p>
        </p:txBody>
      </p:sp>
      <p:sp>
        <p:nvSpPr>
          <p:cNvPr id="14" name="Titel 4">
            <a:extLst>
              <a:ext uri="{FF2B5EF4-FFF2-40B4-BE49-F238E27FC236}">
                <a16:creationId xmlns:a16="http://schemas.microsoft.com/office/drawing/2014/main" id="{7CAD6299-698C-4286-A795-C0A298AA7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 err="1"/>
              <a:t>Thank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your</a:t>
            </a:r>
            <a:r>
              <a:rPr lang="de-DE" altLang="de-DE" dirty="0"/>
              <a:t> </a:t>
            </a:r>
            <a:r>
              <a:rPr lang="de-DE" altLang="de-DE" dirty="0" err="1"/>
              <a:t>kind</a:t>
            </a:r>
            <a:r>
              <a:rPr lang="de-DE" altLang="de-DE" dirty="0"/>
              <a:t> </a:t>
            </a:r>
            <a:r>
              <a:rPr lang="de-DE" altLang="de-DE" dirty="0" err="1"/>
              <a:t>attention</a:t>
            </a:r>
            <a:r>
              <a:rPr lang="de-DE" altLang="de-DE" dirty="0"/>
              <a:t>!</a:t>
            </a:r>
            <a:endParaRPr lang="en-US" dirty="0"/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FEE85F7D-0EFB-45E0-9D76-90B15666B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467" y="3143250"/>
            <a:ext cx="2851150" cy="1425575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7383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2" descr="cid:image001.jpg@01DA1D30.D703D800">
            <a:extLst>
              <a:ext uri="{FF2B5EF4-FFF2-40B4-BE49-F238E27FC236}">
                <a16:creationId xmlns:a16="http://schemas.microsoft.com/office/drawing/2014/main" id="{47FDE99F-75D1-4C73-913E-636F47006B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2" b="25369"/>
          <a:stretch>
            <a:fillRect/>
          </a:stretch>
        </p:blipFill>
        <p:spPr bwMode="auto">
          <a:xfrm>
            <a:off x="6879623" y="1532621"/>
            <a:ext cx="2851200" cy="1421783"/>
          </a:xfrm>
          <a:prstGeom prst="rect">
            <a:avLst/>
          </a:prstGeom>
          <a:noFill/>
          <a:ln w="19050">
            <a:solidFill>
              <a:srgbClr val="84B81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B34E0E19-F85A-48CA-A971-B31F9C3A8F74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Univ.-Prof. Dr.-Ing. Prof. h.c. Dr. h.c. Torsten Bertram</a:t>
            </a:r>
          </a:p>
          <a:p>
            <a:r>
              <a:rPr lang="en-US"/>
              <a:t>Lehrstuhl für Regelungssystemtechnik</a:t>
            </a:r>
          </a:p>
          <a:p>
            <a:endParaRPr lang="en-US"/>
          </a:p>
        </p:txBody>
      </p:sp>
      <p:sp>
        <p:nvSpPr>
          <p:cNvPr id="13" name="Titel 4">
            <a:extLst>
              <a:ext uri="{FF2B5EF4-FFF2-40B4-BE49-F238E27FC236}">
                <a16:creationId xmlns:a16="http://schemas.microsoft.com/office/drawing/2014/main" id="{FE531E95-7E7F-4EFC-AC13-120AE74DB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192"/>
            <a:ext cx="9768321" cy="425479"/>
          </a:xfrm>
        </p:spPr>
        <p:txBody>
          <a:bodyPr/>
          <a:lstStyle/>
          <a:p>
            <a:r>
              <a:rPr lang="de-DE" altLang="de-DE" dirty="0"/>
              <a:t>Vielen Dank für Ihre Aufmerksamkeit!</a:t>
            </a:r>
            <a:endParaRPr lang="en-US" dirty="0"/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69C4FF65-D9CD-4590-9345-C0C7F04FD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467" y="3143250"/>
            <a:ext cx="2851150" cy="1425575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36484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FD3DEB7-9557-4BAD-831E-F87EA616C806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/>
              <a:t>Univ.-Prof. Dr.-Ing. Prof. h.c. Dr. h.c. Torsten Bertram</a:t>
            </a:r>
          </a:p>
          <a:p>
            <a:pPr>
              <a:defRPr/>
            </a:pPr>
            <a:r>
              <a:rPr lang="en-US"/>
              <a:t>Institute of Control Theory and Systems Engineering</a:t>
            </a:r>
          </a:p>
          <a:p>
            <a:endParaRPr lang="en-US"/>
          </a:p>
        </p:txBody>
      </p:sp>
      <p:sp>
        <p:nvSpPr>
          <p:cNvPr id="14" name="Titel 4">
            <a:extLst>
              <a:ext uri="{FF2B5EF4-FFF2-40B4-BE49-F238E27FC236}">
                <a16:creationId xmlns:a16="http://schemas.microsoft.com/office/drawing/2014/main" id="{7CAD6299-698C-4286-A795-C0A298AA7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 err="1"/>
              <a:t>Thank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your</a:t>
            </a:r>
            <a:r>
              <a:rPr lang="de-DE" altLang="de-DE" dirty="0"/>
              <a:t> </a:t>
            </a:r>
            <a:r>
              <a:rPr lang="de-DE" altLang="de-DE" dirty="0" err="1"/>
              <a:t>kind</a:t>
            </a:r>
            <a:r>
              <a:rPr lang="de-DE" altLang="de-DE" dirty="0"/>
              <a:t> </a:t>
            </a:r>
            <a:r>
              <a:rPr lang="de-DE" altLang="de-DE" dirty="0" err="1"/>
              <a:t>attention</a:t>
            </a:r>
            <a:r>
              <a:rPr lang="de-DE" altLang="de-DE" dirty="0"/>
              <a:t>!</a:t>
            </a:r>
            <a:endParaRPr lang="en-US" dirty="0"/>
          </a:p>
        </p:txBody>
      </p:sp>
      <p:pic>
        <p:nvPicPr>
          <p:cNvPr id="6" name="Picture 4" descr="Folienbilder3">
            <a:extLst>
              <a:ext uri="{FF2B5EF4-FFF2-40B4-BE49-F238E27FC236}">
                <a16:creationId xmlns:a16="http://schemas.microsoft.com/office/drawing/2014/main" id="{31D3B759-B54E-4868-B9F5-C49F38258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637" y="3141663"/>
            <a:ext cx="2116137" cy="1439862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4197A160-C0C6-4F91-88C8-14E9F3B61A3F}"/>
              </a:ext>
            </a:extLst>
          </p:cNvPr>
          <p:cNvGrpSpPr>
            <a:grpSpLocks/>
          </p:cNvGrpSpPr>
          <p:nvPr/>
        </p:nvGrpSpPr>
        <p:grpSpPr bwMode="auto">
          <a:xfrm>
            <a:off x="6887049" y="1527180"/>
            <a:ext cx="2117725" cy="1425575"/>
            <a:chOff x="947739" y="1528764"/>
            <a:chExt cx="4476751" cy="3043236"/>
          </a:xfrm>
        </p:grpSpPr>
        <p:pic>
          <p:nvPicPr>
            <p:cNvPr id="9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4F104DDF-F3A2-4ED2-99B0-B2470DDB65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739" y="1528764"/>
              <a:ext cx="4476751" cy="3043236"/>
            </a:xfrm>
            <a:prstGeom prst="rect">
              <a:avLst/>
            </a:prstGeom>
            <a:noFill/>
            <a:ln w="19050">
              <a:solidFill>
                <a:srgbClr val="84B818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88B94958-3D83-4FE3-9644-6C910E7A26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490912" y="2018534"/>
              <a:ext cx="1235048" cy="2553465"/>
            </a:xfrm>
            <a:prstGeom prst="ellipse">
              <a:avLst/>
            </a:prstGeom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B883E858-C31F-4266-9EA0-E7F35D9AD5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954780" y="2021961"/>
              <a:ext cx="662940" cy="934599"/>
            </a:xfrm>
            <a:prstGeom prst="ellipse">
              <a:avLst/>
            </a:prstGeom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15055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B34E0E19-F85A-48CA-A971-B31F9C3A8F74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Univ.-Prof. Dr.-Ing. Prof. h.c. Dr. h.c. Torsten Bertram</a:t>
            </a:r>
          </a:p>
          <a:p>
            <a:r>
              <a:rPr lang="en-US"/>
              <a:t>Lehrstuhl für Regelungssystemtechnik</a:t>
            </a:r>
          </a:p>
          <a:p>
            <a:endParaRPr lang="en-US"/>
          </a:p>
        </p:txBody>
      </p:sp>
      <p:sp>
        <p:nvSpPr>
          <p:cNvPr id="13" name="Titel 4">
            <a:extLst>
              <a:ext uri="{FF2B5EF4-FFF2-40B4-BE49-F238E27FC236}">
                <a16:creationId xmlns:a16="http://schemas.microsoft.com/office/drawing/2014/main" id="{FE531E95-7E7F-4EFC-AC13-120AE74DB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192"/>
            <a:ext cx="9768321" cy="425479"/>
          </a:xfrm>
        </p:spPr>
        <p:txBody>
          <a:bodyPr/>
          <a:lstStyle/>
          <a:p>
            <a:r>
              <a:rPr lang="de-DE" altLang="de-DE" dirty="0"/>
              <a:t>Vielen Dank für Ihre Aufmerksamkeit!</a:t>
            </a:r>
            <a:endParaRPr lang="en-US" dirty="0"/>
          </a:p>
        </p:txBody>
      </p:sp>
      <p:pic>
        <p:nvPicPr>
          <p:cNvPr id="6" name="Picture 4" descr="Folienbilder3">
            <a:extLst>
              <a:ext uri="{FF2B5EF4-FFF2-40B4-BE49-F238E27FC236}">
                <a16:creationId xmlns:a16="http://schemas.microsoft.com/office/drawing/2014/main" id="{7C772930-1847-4D23-82E5-E2C9D0CE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637" y="3141663"/>
            <a:ext cx="2116137" cy="1439862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33C72076-2A5F-4C7A-9507-5885633C07DD}"/>
              </a:ext>
            </a:extLst>
          </p:cNvPr>
          <p:cNvGrpSpPr>
            <a:grpSpLocks/>
          </p:cNvGrpSpPr>
          <p:nvPr/>
        </p:nvGrpSpPr>
        <p:grpSpPr bwMode="auto">
          <a:xfrm>
            <a:off x="6887049" y="1527180"/>
            <a:ext cx="2117725" cy="1425575"/>
            <a:chOff x="947739" y="1528764"/>
            <a:chExt cx="4476751" cy="3043236"/>
          </a:xfrm>
        </p:grpSpPr>
        <p:pic>
          <p:nvPicPr>
            <p:cNvPr id="8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EA64546F-FD15-4B6F-8068-A784D9D431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739" y="1528764"/>
              <a:ext cx="4476751" cy="3043236"/>
            </a:xfrm>
            <a:prstGeom prst="rect">
              <a:avLst/>
            </a:prstGeom>
            <a:noFill/>
            <a:ln w="19050">
              <a:solidFill>
                <a:srgbClr val="84B818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C7558AF3-61FA-40D2-8F2B-D0B07BEBA6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490912" y="2018534"/>
              <a:ext cx="1235048" cy="2553465"/>
            </a:xfrm>
            <a:prstGeom prst="ellipse">
              <a:avLst/>
            </a:prstGeom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688F18F3-55B5-403F-91FF-D01F8A5148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954780" y="2021961"/>
              <a:ext cx="662940" cy="934599"/>
            </a:xfrm>
            <a:prstGeom prst="ellipse">
              <a:avLst/>
            </a:prstGeom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9499610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AEF81"/>
      </a:accent1>
      <a:accent2>
        <a:srgbClr val="84B818"/>
      </a:accent2>
      <a:accent3>
        <a:srgbClr val="FFFFFF"/>
      </a:accent3>
      <a:accent4>
        <a:srgbClr val="000000"/>
      </a:accent4>
      <a:accent5>
        <a:srgbClr val="E1F6C1"/>
      </a:accent5>
      <a:accent6>
        <a:srgbClr val="77A615"/>
      </a:accent6>
      <a:hlink>
        <a:srgbClr val="FF6600"/>
      </a:hlink>
      <a:folHlink>
        <a:srgbClr val="FF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AEF81"/>
        </a:accent1>
        <a:accent2>
          <a:srgbClr val="84B818"/>
        </a:accent2>
        <a:accent3>
          <a:srgbClr val="FFFFFF"/>
        </a:accent3>
        <a:accent4>
          <a:srgbClr val="000000"/>
        </a:accent4>
        <a:accent5>
          <a:srgbClr val="E1F6C1"/>
        </a:accent5>
        <a:accent6>
          <a:srgbClr val="77A615"/>
        </a:accent6>
        <a:hlink>
          <a:srgbClr val="FF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C0545BA1-9699-4DB6-971B-92548B451FAF}" vid="{54F721C3-0531-47A7-8453-AD4959E702DC}"/>
    </a:ext>
  </a:extLst>
</a:theme>
</file>

<file path=ppt/theme/theme2.xml><?xml version="1.0" encoding="utf-8"?>
<a:theme xmlns:a="http://schemas.openxmlformats.org/drawingml/2006/main" name="1_Standarddesign">
  <a:themeElements>
    <a:clrScheme name="Benutzerdefiniert 4">
      <a:dk1>
        <a:srgbClr val="000000"/>
      </a:dk1>
      <a:lt1>
        <a:srgbClr val="E2E2E2"/>
      </a:lt1>
      <a:dk2>
        <a:srgbClr val="000000"/>
      </a:dk2>
      <a:lt2>
        <a:srgbClr val="E2E2E2"/>
      </a:lt2>
      <a:accent1>
        <a:srgbClr val="CAEF81"/>
      </a:accent1>
      <a:accent2>
        <a:srgbClr val="84B818"/>
      </a:accent2>
      <a:accent3>
        <a:srgbClr val="FFFFFF"/>
      </a:accent3>
      <a:accent4>
        <a:srgbClr val="000000"/>
      </a:accent4>
      <a:accent5>
        <a:srgbClr val="E1F6C1"/>
      </a:accent5>
      <a:accent6>
        <a:srgbClr val="77A615"/>
      </a:accent6>
      <a:hlink>
        <a:srgbClr val="FF6600"/>
      </a:hlink>
      <a:folHlink>
        <a:srgbClr val="FFCC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AEF81"/>
        </a:accent1>
        <a:accent2>
          <a:srgbClr val="84B818"/>
        </a:accent2>
        <a:accent3>
          <a:srgbClr val="FFFFFF"/>
        </a:accent3>
        <a:accent4>
          <a:srgbClr val="000000"/>
        </a:accent4>
        <a:accent5>
          <a:srgbClr val="E1F6C1"/>
        </a:accent5>
        <a:accent6>
          <a:srgbClr val="77A615"/>
        </a:accent6>
        <a:hlink>
          <a:srgbClr val="FF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C0545BA1-9699-4DB6-971B-92548B451FAF}" vid="{9EFBC71E-6784-4A5E-9EC8-86264D314A4D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RST-Folienlayout16x9</Template>
  <TotalTime>0</TotalTime>
  <Words>1742</Words>
  <Application>Microsoft Office PowerPoint</Application>
  <PresentationFormat>Breitbild</PresentationFormat>
  <Paragraphs>336</Paragraphs>
  <Slides>29</Slides>
  <Notes>0</Notes>
  <HiddenSlides>15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29</vt:i4>
      </vt:variant>
    </vt:vector>
  </HeadingPairs>
  <TitlesOfParts>
    <vt:vector size="35" baseType="lpstr">
      <vt:lpstr>Yu Gothic UI Semibold</vt:lpstr>
      <vt:lpstr>Arial</vt:lpstr>
      <vt:lpstr>Cambria Math</vt:lpstr>
      <vt:lpstr>Wingdings</vt:lpstr>
      <vt:lpstr>Standarddesign</vt:lpstr>
      <vt:lpstr>1_Standarddesign</vt:lpstr>
      <vt:lpstr>Forward kinematics</vt:lpstr>
      <vt:lpstr>PowerPoint-Präsentation</vt:lpstr>
      <vt:lpstr>Forward kinematics</vt:lpstr>
      <vt:lpstr>Denavit Hartenberg (DH) principle</vt:lpstr>
      <vt:lpstr>Denavit Hartenberg (DH) procedure</vt:lpstr>
      <vt:lpstr>PowerPoint-Präsentation</vt:lpstr>
      <vt:lpstr>Coordinate Frames</vt:lpstr>
      <vt:lpstr>Coordinate Frames</vt:lpstr>
      <vt:lpstr>Coordinate Frames</vt:lpstr>
      <vt:lpstr>Coordinate Frames</vt:lpstr>
      <vt:lpstr>Coordinate Frames</vt:lpstr>
      <vt:lpstr>Coordinate Frames</vt:lpstr>
      <vt:lpstr>PowerPoint-Präsentation</vt:lpstr>
      <vt:lpstr>Forward kinematics</vt:lpstr>
      <vt:lpstr>Coordinate Frames</vt:lpstr>
      <vt:lpstr>Titel des Vortrages</vt:lpstr>
      <vt:lpstr>Title</vt:lpstr>
      <vt:lpstr>Gliederung</vt:lpstr>
      <vt:lpstr>Outline</vt:lpstr>
      <vt:lpstr>Formatierung</vt:lpstr>
      <vt:lpstr>Farbschema</vt:lpstr>
      <vt:lpstr>Das Corporate Design der TU Dortmund</vt:lpstr>
      <vt:lpstr>TeX Formeln</vt:lpstr>
      <vt:lpstr>Thank you for your kind attention!</vt:lpstr>
      <vt:lpstr>Vielen Dank für Ihre Aufmerksamkeit!</vt:lpstr>
      <vt:lpstr>Thank you for your kind attention!</vt:lpstr>
      <vt:lpstr>Vielen Dank für Ihre Aufmerksamkeit!</vt:lpstr>
      <vt:lpstr>Thank you for your kind attention!</vt:lpstr>
      <vt:lpstr>Vielen Dank für Ihre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Timon Te Kempel</dc:creator>
  <cp:lastModifiedBy>Timon te Kempel</cp:lastModifiedBy>
  <cp:revision>61</cp:revision>
  <dcterms:created xsi:type="dcterms:W3CDTF">2025-06-10T13:10:15Z</dcterms:created>
  <dcterms:modified xsi:type="dcterms:W3CDTF">2025-06-15T15:56:25Z</dcterms:modified>
</cp:coreProperties>
</file>